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12b9d00414045b1" /><Relationship Type="http://schemas.openxmlformats.org/officeDocument/2006/relationships/extended-properties" Target="/docProps/app.xml" Id="R1f6c2864614d496c" /><Relationship Type="http://schemas.openxmlformats.org/officeDocument/2006/relationships/officeDocument" Target="/ppt/presentation.xml" Id="Rac2a0c1c1a9949e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ab51262969149d2"/>
  </p:sldMasterIdLst>
  <p:notesMasterIdLst>
    <p:notesMasterId xmlns:r="http://schemas.openxmlformats.org/officeDocument/2006/relationships" r:id="Rca5e2e860af44ac2"/>
  </p:notesMasterIdLst>
  <p:sldIdLst>
    <p:sldId xmlns:r="http://schemas.openxmlformats.org/officeDocument/2006/relationships" id="256" r:id="Rc80cbfedbbc64b17"/>
    <p:sldId xmlns:r="http://schemas.openxmlformats.org/officeDocument/2006/relationships" id="257" r:id="R966df29f5f8d4eaf"/>
    <p:sldId xmlns:r="http://schemas.openxmlformats.org/officeDocument/2006/relationships" id="258" r:id="R71e96509f81e41d8"/>
    <p:sldId xmlns:r="http://schemas.openxmlformats.org/officeDocument/2006/relationships" id="259" r:id="Rf2ab27216e72499d"/>
    <p:sldId xmlns:r="http://schemas.openxmlformats.org/officeDocument/2006/relationships" id="260" r:id="Rde2ab5913e814197"/>
    <p:sldId xmlns:r="http://schemas.openxmlformats.org/officeDocument/2006/relationships" id="261" r:id="Rc17bd5b58edb46ac"/>
    <p:sldId xmlns:r="http://schemas.openxmlformats.org/officeDocument/2006/relationships" id="262" r:id="R0b49d935206e46de"/>
    <p:sldId xmlns:r="http://schemas.openxmlformats.org/officeDocument/2006/relationships" id="263" r:id="Rd74d43e5305d4bc7"/>
    <p:sldId xmlns:r="http://schemas.openxmlformats.org/officeDocument/2006/relationships" id="264" r:id="R2e8f1dbbfbca4698"/>
    <p:sldId xmlns:r="http://schemas.openxmlformats.org/officeDocument/2006/relationships" id="265" r:id="R1b9a4c9e2c894ee4"/>
    <p:sldId xmlns:r="http://schemas.openxmlformats.org/officeDocument/2006/relationships" id="266" r:id="R18236b62b0324ccf"/>
    <p:sldId xmlns:r="http://schemas.openxmlformats.org/officeDocument/2006/relationships" id="267" r:id="R7fed172c40ee440a"/>
    <p:sldId xmlns:r="http://schemas.openxmlformats.org/officeDocument/2006/relationships" id="268" r:id="R2daf647750234ea7"/>
    <p:sldId xmlns:r="http://schemas.openxmlformats.org/officeDocument/2006/relationships" id="269" r:id="Rd75e6ca4cbc74d7e"/>
    <p:sldId xmlns:r="http://schemas.openxmlformats.org/officeDocument/2006/relationships" id="270" r:id="R42f606023cc94fb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5bbad1a900b4361" /><Relationship Type="http://schemas.openxmlformats.org/officeDocument/2006/relationships/slideMaster" Target="/ppt/slideMasters/slideMaster1.xml" Id="Rcab51262969149d2" /><Relationship Type="http://schemas.openxmlformats.org/officeDocument/2006/relationships/notesMaster" Target="/ppt/notesMasters/notesMaster1.xml" Id="Rca5e2e860af44ac2" /><Relationship Type="http://schemas.openxmlformats.org/officeDocument/2006/relationships/presProps" Target="/ppt/presProps.xml" Id="R71978f4d1e764a8e" /><Relationship Type="http://schemas.openxmlformats.org/officeDocument/2006/relationships/tableStyles" Target="/ppt/tableStyles.xml" Id="Re5e8ec67bec548a7" /><Relationship Type="http://schemas.openxmlformats.org/officeDocument/2006/relationships/slide" Target="/ppt/slides/slide1.xml" Id="Rc80cbfedbbc64b17" /><Relationship Type="http://schemas.openxmlformats.org/officeDocument/2006/relationships/slide" Target="/ppt/slides/slide2.xml" Id="R966df29f5f8d4eaf" /><Relationship Type="http://schemas.openxmlformats.org/officeDocument/2006/relationships/slide" Target="/ppt/slides/slide3.xml" Id="R71e96509f81e41d8" /><Relationship Type="http://schemas.openxmlformats.org/officeDocument/2006/relationships/slide" Target="/ppt/slides/slide4.xml" Id="Rf2ab27216e72499d" /><Relationship Type="http://schemas.openxmlformats.org/officeDocument/2006/relationships/slide" Target="/ppt/slides/slide5.xml" Id="Rde2ab5913e814197" /><Relationship Type="http://schemas.openxmlformats.org/officeDocument/2006/relationships/slide" Target="/ppt/slides/slide6.xml" Id="Rc17bd5b58edb46ac" /><Relationship Type="http://schemas.openxmlformats.org/officeDocument/2006/relationships/slide" Target="/ppt/slides/slide7.xml" Id="R0b49d935206e46de" /><Relationship Type="http://schemas.openxmlformats.org/officeDocument/2006/relationships/slide" Target="/ppt/slides/slide8.xml" Id="Rd74d43e5305d4bc7" /><Relationship Type="http://schemas.openxmlformats.org/officeDocument/2006/relationships/slide" Target="/ppt/slides/slide9.xml" Id="R2e8f1dbbfbca4698" /><Relationship Type="http://schemas.openxmlformats.org/officeDocument/2006/relationships/slide" Target="/ppt/slides/slide10.xml" Id="R1b9a4c9e2c894ee4" /><Relationship Type="http://schemas.openxmlformats.org/officeDocument/2006/relationships/slide" Target="/ppt/slides/slide11.xml" Id="R18236b62b0324ccf" /><Relationship Type="http://schemas.openxmlformats.org/officeDocument/2006/relationships/slide" Target="/ppt/slides/slide12.xml" Id="R7fed172c40ee440a" /><Relationship Type="http://schemas.openxmlformats.org/officeDocument/2006/relationships/slide" Target="/ppt/slides/slide13.xml" Id="R2daf647750234ea7" /><Relationship Type="http://schemas.openxmlformats.org/officeDocument/2006/relationships/slide" Target="/ppt/slides/slide14.xml" Id="Rd75e6ca4cbc74d7e" /><Relationship Type="http://schemas.openxmlformats.org/officeDocument/2006/relationships/slide" Target="/ppt/slides/slide15.xml" Id="R42f606023cc94fb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148ce1188014ec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acdb6753b5477b" /><Relationship Type="http://schemas.openxmlformats.org/officeDocument/2006/relationships/notesMaster" Target="/ppt/notesMasters/notesMaster1.xml" Id="R63c87cb0becd409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8bc464c7d99411e" /><Relationship Type="http://schemas.openxmlformats.org/officeDocument/2006/relationships/notesMaster" Target="/ppt/notesMasters/notesMaster1.xml" Id="R92e318115af047b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acbc0c7dc474dd0" /><Relationship Type="http://schemas.openxmlformats.org/officeDocument/2006/relationships/notesMaster" Target="/ppt/notesMasters/notesMaster1.xml" Id="R26e2170dd2fc44b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999cf6bb8e34ed7" /><Relationship Type="http://schemas.openxmlformats.org/officeDocument/2006/relationships/notesMaster" Target="/ppt/notesMasters/notesMaster1.xml" Id="Rb9c8dd751b2d443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15391209c474578" /><Relationship Type="http://schemas.openxmlformats.org/officeDocument/2006/relationships/notesMaster" Target="/ppt/notesMasters/notesMaster1.xml" Id="Rabfe62d30f42452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454329d2ae04dbf" /><Relationship Type="http://schemas.openxmlformats.org/officeDocument/2006/relationships/notesMaster" Target="/ppt/notesMasters/notesMaster1.xml" Id="R1f718c2daa63485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6ab0a32e6f247f7" /><Relationship Type="http://schemas.openxmlformats.org/officeDocument/2006/relationships/notesMaster" Target="/ppt/notesMasters/notesMaster1.xml" Id="R5c7135f4008d4f7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f45223bbe554fda" /><Relationship Type="http://schemas.openxmlformats.org/officeDocument/2006/relationships/notesMaster" Target="/ppt/notesMasters/notesMaster1.xml" Id="Rfe70a618e3f140b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b497a4bb516467d" /><Relationship Type="http://schemas.openxmlformats.org/officeDocument/2006/relationships/notesMaster" Target="/ppt/notesMasters/notesMaster1.xml" Id="R126616c798e0401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085e76c46b64d54" /><Relationship Type="http://schemas.openxmlformats.org/officeDocument/2006/relationships/notesMaster" Target="/ppt/notesMasters/notesMaster1.xml" Id="R583aebbecb624da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5dea24891a84678" /><Relationship Type="http://schemas.openxmlformats.org/officeDocument/2006/relationships/notesMaster" Target="/ppt/notesMasters/notesMaster1.xml" Id="R456f21b7b3604d7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840883acb704199" /><Relationship Type="http://schemas.openxmlformats.org/officeDocument/2006/relationships/notesMaster" Target="/ppt/notesMasters/notesMaster1.xml" Id="R2a34611b98b6445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0dac0f9a2814b11" /><Relationship Type="http://schemas.openxmlformats.org/officeDocument/2006/relationships/notesMaster" Target="/ppt/notesMasters/notesMaster1.xml" Id="R687dfc5351e7412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96513ecb8954b1c" /><Relationship Type="http://schemas.openxmlformats.org/officeDocument/2006/relationships/notesMaster" Target="/ppt/notesMasters/notesMaster1.xml" Id="R3f9b0bc442994d5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63c020cefad4491" /><Relationship Type="http://schemas.openxmlformats.org/officeDocument/2006/relationships/notesMaster" Target="/ppt/notesMasters/notesMaster1.xml" Id="Rea45e4194fc344e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21002905984e1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17721e252a467d" /><Relationship Type="http://schemas.openxmlformats.org/officeDocument/2006/relationships/slideLayout" Target="/ppt/slideLayouts/slideLayout1.xml" Id="R3c95051a9311454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c95051a9311454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4ca5b3b99f4be2" /><Relationship Type="http://schemas.openxmlformats.org/officeDocument/2006/relationships/image" Target="/ppt/media/image.png" Id="Ra9bec53ff6d64ad5" /><Relationship Type="http://schemas.openxmlformats.org/officeDocument/2006/relationships/notesSlide" Target="/ppt/notesSlides/notesSlide1.xml" Id="R741f439334a543c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99dda236ca475d" /><Relationship Type="http://schemas.openxmlformats.org/officeDocument/2006/relationships/notesSlide" Target="/ppt/notesSlides/notesSlide2.xml" Id="R68bef67d1dcf4c1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a59e262df3468d" /><Relationship Type="http://schemas.openxmlformats.org/officeDocument/2006/relationships/image" Target="/ppt/media/image2.png" Id="Ra2a2d30d89ef4477" /><Relationship Type="http://schemas.openxmlformats.org/officeDocument/2006/relationships/notesSlide" Target="/ppt/notesSlides/notesSlide3.xml" Id="R4b56a46e98394d1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c68a2e9c004443" /><Relationship Type="http://schemas.openxmlformats.org/officeDocument/2006/relationships/notesSlide" Target="/ppt/notesSlides/notesSlide4.xml" Id="Rcd8f7851ea2143d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fb1832467d4e03" /><Relationship Type="http://schemas.openxmlformats.org/officeDocument/2006/relationships/notesSlide" Target="/ppt/notesSlides/notesSlide5.xml" Id="Rf27c3c1b94d34ec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406f5d394b406f" /><Relationship Type="http://schemas.openxmlformats.org/officeDocument/2006/relationships/notesSlide" Target="/ppt/notesSlides/notesSlide6.xml" Id="R1964c4b51e0c46f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e8ac47956d45ab" /><Relationship Type="http://schemas.openxmlformats.org/officeDocument/2006/relationships/notesSlide" Target="/ppt/notesSlides/notesSlide7.xml" Id="R44f50f40876e4ed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c259be50304205" /><Relationship Type="http://schemas.openxmlformats.org/officeDocument/2006/relationships/image" Target="/ppt/media/image3.png" Id="R1662e01d429a4597" /><Relationship Type="http://schemas.openxmlformats.org/officeDocument/2006/relationships/image" Target="/ppt/media/image4.png" Id="Rffd72aced7e246b4" /><Relationship Type="http://schemas.openxmlformats.org/officeDocument/2006/relationships/notesSlide" Target="/ppt/notesSlides/notesSlide8.xml" Id="Rf2435abf4c20496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07a521215846fb" /><Relationship Type="http://schemas.openxmlformats.org/officeDocument/2006/relationships/image" Target="/ppt/media/image5.png" Id="R1a060c6eae944d6e" /><Relationship Type="http://schemas.openxmlformats.org/officeDocument/2006/relationships/image" Target="/ppt/media/image6.png" Id="Rdcdb2b182d2b41ba" /><Relationship Type="http://schemas.openxmlformats.org/officeDocument/2006/relationships/notesSlide" Target="/ppt/notesSlides/notesSlide9.xml" Id="R988f63d331d1486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bc7f7c4b034a53" /><Relationship Type="http://schemas.openxmlformats.org/officeDocument/2006/relationships/image" Target="/ppt/media/image7.png" Id="Rfdb16081f24f4b7a" /><Relationship Type="http://schemas.openxmlformats.org/officeDocument/2006/relationships/image" Target="/ppt/media/image8.png" Id="R0f1d84514c514ac4" /><Relationship Type="http://schemas.openxmlformats.org/officeDocument/2006/relationships/notesSlide" Target="/ppt/notesSlides/notesSlide10.xml" Id="Rb153c5441d94464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47ecb0d1424d30" /><Relationship Type="http://schemas.openxmlformats.org/officeDocument/2006/relationships/notesSlide" Target="/ppt/notesSlides/notesSlide11.xml" Id="Rdfb7ad68ad9e4fd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5d549076dc47f0" /><Relationship Type="http://schemas.openxmlformats.org/officeDocument/2006/relationships/notesSlide" Target="/ppt/notesSlides/notesSlide12.xml" Id="Rc4c1fc07b8a8432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63570f2e5b4e84" /><Relationship Type="http://schemas.openxmlformats.org/officeDocument/2006/relationships/notesSlide" Target="/ppt/notesSlides/notesSlide13.xml" Id="R425253f4317d433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fb4f8e9aec4431" /><Relationship Type="http://schemas.openxmlformats.org/officeDocument/2006/relationships/notesSlide" Target="/ppt/notesSlides/notesSlide14.xml" Id="Rfc644711897f459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5e41ff6ada459d" /><Relationship Type="http://schemas.openxmlformats.org/officeDocument/2006/relationships/notesSlide" Target="/ppt/notesSlides/notesSlide15.xml" Id="R3b512f141f03436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7115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9CB03B-6DAD-44DE-B3C5-8747C9DD7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200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1523"/>
          </a:solidFill>
          <a:ln xmlns:a="http://schemas.openxmlformats.org/drawingml/2006/main" w="0">
            <a:solidFill>
              <a:srgbClr val="711523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bec53ff6d64ad5"/>
          <a:srcRect xmlns:a="http://schemas.openxmlformats.org/drawingml/2006/main" l="23785" t="0" r="2378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00650" y="0"/>
            <a:ext cx="699135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227FB5-A322-419F-A494-997539797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0"/>
            <a:ext cx="24765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69DB44-0CBD-4C81-9222-23CEE3AA5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BBC4"/>
                </a:solidFill>
              </a:defRPr>
            </a:pPr>
            <a:r>
              <a:rPr sz="1125" b="1">
                <a:solidFill>
                  <a:srgbClr val="F0BBC4"/>
                </a:solidFill>
              </a:rPr>
              <a:t>PRODUCT MATTERS 6.0  |  CAPSTONE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353FD5-B490-439E-B719-55BCCD347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4095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INDIE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Protect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25D848-57A3-4A2A-94FA-07903703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76550"/>
            <a:ext cx="4000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A bank-native protection cockpit for the complete insurance lifecycle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15D299-DEC9-4032-B93E-50EAEF026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81450"/>
            <a:ext cx="3905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DDE1"/>
                </a:solidFill>
              </a:defRPr>
            </a:pPr>
            <a:r>
              <a:rPr sz="1350" b="0">
                <a:solidFill>
                  <a:srgbClr val="F4DDE1"/>
                </a:solidFill>
              </a:rPr>
              <a:t>Discover clearly. Manage every policy. Act with confidence when something goes wrong.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9AF599-17DF-439D-A756-76578DCB5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340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7A89"/>
          </a:solidFill>
          <a:ln xmlns:a="http://schemas.openxmlformats.org/drawingml/2006/main" w="0">
            <a:solidFill>
              <a:srgbClr val="D77A8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AFB1F1-E8D9-4030-A245-6DD0107C8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IndusInd General Insurance  x  E-Cell IIT Guwahati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41B95A-41A8-444B-A312-95B1F198E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674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0BBC4"/>
                </a:solidFill>
              </a:defRPr>
            </a:pPr>
            <a:r>
              <a:rPr sz="1050" b="0">
                <a:solidFill>
                  <a:srgbClr val="F0BBC4"/>
                </a:solidFill>
              </a:rPr>
              <a:t>Capstone submission  |  July 2026</a:t>
            </a:r>
          </a:p>
        </p:txBody>
      </p:sp>
    </p:spTree>
    <p:extLst>
      <p:ext uri="{BB962C8B-B14F-4D97-AF65-F5344CB8AC3E}">
        <p14:creationId xmlns:p14="http://schemas.microsoft.com/office/powerpoint/2010/main" val="11992110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E3BE937-5E06-4D09-8FA2-01147F12D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D2F"/>
          </a:solidFill>
          <a:ln xmlns:a="http://schemas.openxmlformats.org/drawingml/2006/main" w="0">
            <a:solidFill>
              <a:srgbClr val="9F1D2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7BD771-E3F5-4F11-87FE-75532DF1B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F1D2F"/>
                </a:solidFill>
              </a:defRPr>
            </a:pPr>
            <a:r>
              <a:rPr sz="1125" b="1">
                <a:solidFill>
                  <a:srgbClr val="9F1D2F"/>
                </a:solidFill>
              </a:rPr>
              <a:t>INDIE  PROTECT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371BB3-F9C9-4159-8621-EBEC09701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57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164"/>
                </a:solidFill>
              </a:defRPr>
            </a:pPr>
            <a:r>
              <a:rPr sz="975" b="1">
                <a:solidFill>
                  <a:srgbClr val="686164"/>
                </a:solidFill>
              </a:rPr>
              <a:t>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0FDB05-CAAC-4D95-AD0D-14AE54424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1A1C"/>
                </a:solidFill>
              </a:defRPr>
            </a:pPr>
            <a:r>
              <a:rPr sz="2700" b="1">
                <a:solidFill>
                  <a:srgbClr val="201A1C"/>
                </a:solidFill>
              </a:rPr>
              <a:t>Insurance fails when customers need clarity most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F89647-C13D-4AB7-9D42-9CC7926A9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6164"/>
                </a:solidFill>
              </a:defRPr>
            </a:pPr>
            <a:r>
              <a:rPr sz="1275" b="0">
                <a:solidFill>
                  <a:srgbClr val="686164"/>
                </a:solidFill>
              </a:rPr>
              <a:t>Low penetration is not only a distribution problem; fragmented discovery, policy language, claims, and renewals erode trust across the lifecycle.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855FA2-D343-4519-9C4E-0C716CFAD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164"/>
                </a:solidFill>
              </a:defRPr>
            </a:pPr>
            <a:r>
              <a:rPr sz="975" b="1">
                <a:solidFill>
                  <a:srgbClr val="686164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902F24-9C67-4119-B6BA-E6E88116B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33337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602AAD-D5FE-469A-A26F-55DAE155C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76200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F1D2F"/>
          </a:solidFill>
          <a:ln xmlns:a="http://schemas.openxmlformats.org/drawingml/2006/main" w="0">
            <a:solidFill>
              <a:srgbClr val="9F1D2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7DEE81-1059-40C8-A24E-0BA366597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57400"/>
            <a:ext cx="125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9F1D2F"/>
                </a:solidFill>
              </a:defRPr>
            </a:pPr>
            <a:r>
              <a:rPr sz="2400" b="1">
                <a:solidFill>
                  <a:srgbClr val="9F1D2F"/>
                </a:solidFill>
              </a:rPr>
              <a:t>1.0%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F6FD55-C6ED-4EC0-9831-41BD0560B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057400"/>
            <a:ext cx="1638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1A1C"/>
                </a:solidFill>
              </a:defRPr>
            </a:pPr>
            <a:r>
              <a:rPr sz="1200" b="1">
                <a:solidFill>
                  <a:srgbClr val="201A1C"/>
                </a:solidFill>
              </a:rPr>
              <a:t>Non-life insurance penetration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A1E557-2AFA-447D-9E36-D2E60C40C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495550"/>
            <a:ext cx="1638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6164"/>
                </a:solidFill>
              </a:defRPr>
            </a:pPr>
            <a:r>
              <a:rPr sz="975" b="0">
                <a:solidFill>
                  <a:srgbClr val="686164"/>
                </a:solidFill>
              </a:rPr>
              <a:t>India, FY 2023-24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DA3A17-B834-4873-B16F-02553A7CD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33337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A7A2DA-AACF-45CA-87CF-44158FA0A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76200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658E"/>
          </a:solidFill>
          <a:ln xmlns:a="http://schemas.openxmlformats.org/drawingml/2006/main" w="0">
            <a:solidFill>
              <a:srgbClr val="2D658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27E183-66FC-4758-BA60-049512E17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71850"/>
            <a:ext cx="125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D658E"/>
                </a:solidFill>
              </a:defRPr>
            </a:pPr>
            <a:r>
              <a:rPr sz="2400" b="1">
                <a:solidFill>
                  <a:srgbClr val="2D658E"/>
                </a:solidFill>
              </a:rPr>
              <a:t>USD 25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3CE22D-50DE-4E39-B588-82B49F66E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371850"/>
            <a:ext cx="1638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1A1C"/>
                </a:solidFill>
              </a:defRPr>
            </a:pPr>
            <a:r>
              <a:rPr sz="1200" b="1">
                <a:solidFill>
                  <a:srgbClr val="201A1C"/>
                </a:solidFill>
              </a:rPr>
              <a:t>Non-life insurance density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7E62AA-EDE4-4774-BF69-11582E098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810000"/>
            <a:ext cx="1638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6164"/>
                </a:solidFill>
              </a:defRPr>
            </a:pPr>
            <a:r>
              <a:rPr sz="975" b="0">
                <a:solidFill>
                  <a:srgbClr val="686164"/>
                </a:solidFill>
              </a:rPr>
              <a:t>Per person, FY 2023-24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02BB86-6AD2-4B76-B871-6E78CF989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33337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A039CB-F88C-4679-8484-9532622CD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76200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968"/>
          </a:solidFill>
          <a:ln xmlns:a="http://schemas.openxmlformats.org/drawingml/2006/main" w="0">
            <a:solidFill>
              <a:srgbClr val="16796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4A291B-4859-4035-9F41-AF3466C93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86300"/>
            <a:ext cx="125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7968"/>
                </a:solidFill>
              </a:defRPr>
            </a:pPr>
            <a:r>
              <a:rPr sz="2400" b="1">
                <a:solidFill>
                  <a:srgbClr val="167968"/>
                </a:solidFill>
              </a:rPr>
              <a:t>93%+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BE2751-5B2F-45FC-BA31-E93C33EF2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686300"/>
            <a:ext cx="1638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1A1C"/>
                </a:solidFill>
              </a:defRPr>
            </a:pPr>
            <a:r>
              <a:rPr sz="1200" b="1">
                <a:solidFill>
                  <a:srgbClr val="201A1C"/>
                </a:solidFill>
              </a:rPr>
              <a:t>IndusInd digital transaction mix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E9D475-8E19-45C6-BB84-8D7EF1C32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124450"/>
            <a:ext cx="1638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6164"/>
                </a:solidFill>
              </a:defRPr>
            </a:pPr>
            <a:r>
              <a:rPr sz="975" b="0">
                <a:solidFill>
                  <a:srgbClr val="686164"/>
                </a:solidFill>
              </a:rPr>
              <a:t>A ready digital distribution base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B8081B-1225-4B5B-B09C-D7D3E6E7F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847850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1A1C"/>
                </a:solidFill>
              </a:defRPr>
            </a:pPr>
            <a:r>
              <a:rPr sz="1500" b="1">
                <a:solidFill>
                  <a:srgbClr val="201A1C"/>
                </a:solidFill>
              </a:rPr>
              <a:t>The customer’s real journey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A096CD-9CD2-4962-AD87-F9A0DD67B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241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1D2F"/>
          </a:solidFill>
          <a:ln xmlns:a="http://schemas.openxmlformats.org/drawingml/2006/main" w="0">
            <a:solidFill>
              <a:srgbClr val="9F1D2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E1D9B7-3725-468A-9564-66D38B445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57450"/>
            <a:ext cx="19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ADD"/>
          </a:solidFill>
          <a:ln xmlns:a="http://schemas.openxmlformats.org/drawingml/2006/main" w="0">
            <a:solidFill>
              <a:srgbClr val="DEDAD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F63366-D6F0-475A-B35D-7D37D1AC4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2479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F1D2F"/>
                </a:solidFill>
              </a:defRPr>
            </a:pPr>
            <a:r>
              <a:rPr sz="975" b="1">
                <a:solidFill>
                  <a:srgbClr val="9F1D2F"/>
                </a:solidFill>
              </a:rPr>
              <a:t>DISCOVER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953407-D23D-46C7-AF48-5BE60AF07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238375"/>
            <a:ext cx="500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1A1C"/>
                </a:solidFill>
              </a:defRPr>
            </a:pPr>
            <a:r>
              <a:rPr sz="1350" b="1">
                <a:solidFill>
                  <a:srgbClr val="201A1C"/>
                </a:solidFill>
              </a:rPr>
              <a:t>Too many options, too little context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BEA219-9285-497D-B211-225457174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514600"/>
            <a:ext cx="5000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6164"/>
                </a:solidFill>
              </a:defRPr>
            </a:pPr>
            <a:r>
              <a:rPr sz="1050" b="0">
                <a:solidFill>
                  <a:srgbClr val="686164"/>
                </a:solidFill>
              </a:rPr>
              <a:t>Comparison optimises price, not protection fit.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E96127-6D7F-4DDE-A9BB-CCE4A9C7D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2194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1D2F"/>
          </a:solidFill>
          <a:ln xmlns:a="http://schemas.openxmlformats.org/drawingml/2006/main" w="0">
            <a:solidFill>
              <a:srgbClr val="9F1D2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DEEE7F-C518-414E-9F18-1FFC8F1B8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352800"/>
            <a:ext cx="19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ADD"/>
          </a:solidFill>
          <a:ln xmlns:a="http://schemas.openxmlformats.org/drawingml/2006/main" w="0">
            <a:solidFill>
              <a:srgbClr val="DEDAD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080964-C6B0-4171-B001-EEE39179B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432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F1D2F"/>
                </a:solidFill>
              </a:defRPr>
            </a:pPr>
            <a:r>
              <a:rPr sz="975" b="1">
                <a:solidFill>
                  <a:srgbClr val="9F1D2F"/>
                </a:solidFill>
              </a:rPr>
              <a:t>MANAGE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1AD3F6-F4DC-4188-8D28-4F30F7C0F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133725"/>
            <a:ext cx="500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1A1C"/>
                </a:solidFill>
              </a:defRPr>
            </a:pPr>
            <a:r>
              <a:rPr sz="1350" b="1">
                <a:solidFill>
                  <a:srgbClr val="201A1C"/>
                </a:solidFill>
              </a:rPr>
              <a:t>Policies live across providers and inboxes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5E5C14A-F3A4-4065-AE7E-4C9BC4B1A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409950"/>
            <a:ext cx="5000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6164"/>
                </a:solidFill>
              </a:defRPr>
            </a:pPr>
            <a:r>
              <a:rPr sz="1050" b="0">
                <a:solidFill>
                  <a:srgbClr val="686164"/>
                </a:solidFill>
              </a:rPr>
              <a:t>Coverage, exclusions, and renewals stay invisible.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320CB1B-C166-4122-B01D-D930CFBAA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114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3B3F"/>
          </a:solidFill>
          <a:ln xmlns:a="http://schemas.openxmlformats.org/drawingml/2006/main" w="0">
            <a:solidFill>
              <a:srgbClr val="C63B3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202366E-A975-406C-BA5C-9430EE53D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248150"/>
            <a:ext cx="19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ADD"/>
          </a:solidFill>
          <a:ln xmlns:a="http://schemas.openxmlformats.org/drawingml/2006/main" w="0">
            <a:solidFill>
              <a:srgbClr val="DEDAD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D2B7887-7AF6-42A3-8D0E-CD59ED1DF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386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F1D2F"/>
                </a:solidFill>
              </a:defRPr>
            </a:pPr>
            <a:r>
              <a:rPr sz="975" b="1">
                <a:solidFill>
                  <a:srgbClr val="9F1D2F"/>
                </a:solidFill>
              </a:rPr>
              <a:t>CLAIM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966C112-4C4C-4710-A75E-90C152FD6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029075"/>
            <a:ext cx="500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1A1C"/>
                </a:solidFill>
              </a:defRPr>
            </a:pPr>
            <a:r>
              <a:rPr sz="1350" b="1">
                <a:solidFill>
                  <a:srgbClr val="201A1C"/>
                </a:solidFill>
              </a:rPr>
              <a:t>The stressful moment becomes a document hunt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6E11B36-37B2-46AD-96C3-C586F6C37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305300"/>
            <a:ext cx="5000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6164"/>
                </a:solidFill>
              </a:defRPr>
            </a:pPr>
            <a:r>
              <a:rPr sz="1050" b="0">
                <a:solidFill>
                  <a:srgbClr val="686164"/>
                </a:solidFill>
              </a:rPr>
              <a:t>Customers cannot see ownership or the next step.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9357A6D-B3F5-47E6-9C6E-3D9E897B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0101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1D2F"/>
          </a:solidFill>
          <a:ln xmlns:a="http://schemas.openxmlformats.org/drawingml/2006/main" w="0">
            <a:solidFill>
              <a:srgbClr val="9F1D2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81CE7E3-86CA-486A-A844-9AFEEBCFF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9339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F1D2F"/>
                </a:solidFill>
              </a:defRPr>
            </a:pPr>
            <a:r>
              <a:rPr sz="975" b="1">
                <a:solidFill>
                  <a:srgbClr val="9F1D2F"/>
                </a:solidFill>
              </a:rPr>
              <a:t>RENEW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1758966-88D6-4D98-A991-7A76633D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924425"/>
            <a:ext cx="500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1A1C"/>
                </a:solidFill>
              </a:defRPr>
            </a:pPr>
            <a:r>
              <a:rPr sz="1350" b="1">
                <a:solidFill>
                  <a:srgbClr val="201A1C"/>
                </a:solidFill>
              </a:rPr>
              <a:t>Reminders arrive without advice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401EB84-989C-4C7C-8CE2-53DA27CA5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200650"/>
            <a:ext cx="5000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6164"/>
                </a:solidFill>
              </a:defRPr>
            </a:pPr>
            <a:r>
              <a:rPr sz="1050" b="0">
                <a:solidFill>
                  <a:srgbClr val="686164"/>
                </a:solidFill>
              </a:rPr>
              <a:t>Renewal is treated as a payment, not a protection review.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DAAF806-EA69-4792-BEDE-3CA97C8DA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A7376"/>
                </a:solidFill>
              </a:defRPr>
            </a:pPr>
            <a:r>
              <a:rPr sz="900" b="0">
                <a:solidFill>
                  <a:srgbClr val="7A7376"/>
                </a:solidFill>
              </a:rPr>
              <a:t>Sources: DFS Annual Report 2024-25; IndusInd Bank Annual Report 2024-25.</a:t>
            </a:r>
          </a:p>
        </p:txBody>
      </p:sp>
    </p:spTree>
    <p:extLst>
      <p:ext uri="{BB962C8B-B14F-4D97-AF65-F5344CB8AC3E}">
        <p14:creationId xmlns:p14="http://schemas.microsoft.com/office/powerpoint/2010/main" val="12174319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42ACDB-A583-45BC-92AA-4F953B180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D2F"/>
          </a:solidFill>
          <a:ln xmlns:a="http://schemas.openxmlformats.org/drawingml/2006/main" w="0">
            <a:solidFill>
              <a:srgbClr val="9F1D2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DFC460-AC35-462A-BCF9-1AEBE24F1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F1D2F"/>
                </a:solidFill>
              </a:defRPr>
            </a:pPr>
            <a:r>
              <a:rPr sz="1125" b="1">
                <a:solidFill>
                  <a:srgbClr val="9F1D2F"/>
                </a:solidFill>
              </a:rPr>
              <a:t>INDIE  PROTECT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E95350-E1C7-4DA3-9FE8-0177B0B13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57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164"/>
                </a:solidFill>
              </a:defRPr>
            </a:pPr>
            <a:r>
              <a:rPr sz="975" b="1">
                <a:solidFill>
                  <a:srgbClr val="686164"/>
                </a:solidFill>
              </a:rPr>
              <a:t>PERSONA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7B18CF-1DCE-4B82-B539-E7679C583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1A1C"/>
                </a:solidFill>
              </a:defRPr>
            </a:pPr>
            <a:r>
              <a:rPr sz="2700" b="1">
                <a:solidFill>
                  <a:srgbClr val="201A1C"/>
                </a:solidFill>
              </a:rPr>
              <a:t>Ananya needs one protection view, not another policy store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2CF6E0-4D4D-4C62-92FD-DDF463DC8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6164"/>
                </a:solidFill>
              </a:defRPr>
            </a:pPr>
            <a:r>
              <a:rPr sz="1275" b="0">
                <a:solidFill>
                  <a:srgbClr val="686164"/>
                </a:solidFill>
              </a:rPr>
              <a:t>Primary persona: digitally confident urban banking customers who own multiple policies but lack a unified way to understand and use them.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9A40EB-253E-40B2-B2D0-9357D5433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164"/>
                </a:solidFill>
              </a:defRPr>
            </a:pPr>
            <a:r>
              <a:rPr sz="975" b="1">
                <a:solidFill>
                  <a:srgbClr val="686164"/>
                </a:solidFill>
              </a:rPr>
              <a:t>03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a2d30d89ef4477"/>
          <a:srcRect xmlns:a="http://schemas.openxmlformats.org/drawingml/2006/main" l="22132" t="0" r="2213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43750" y="1771650"/>
            <a:ext cx="4438650" cy="4095750"/>
          </a:xfrm>
          <a:prstGeom xmlns:a="http://schemas.openxmlformats.org/drawingml/2006/main" prst="roundRect">
            <a:avLst>
              <a:gd name="adj" fmla="val 186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419BD2-8095-42D3-97AC-FB4DDAB5D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5981700" cy="4286250"/>
          </a:xfrm>
          <a:prstGeom xmlns:a="http://schemas.openxmlformats.org/drawingml/2006/main" prst="roundRect">
            <a:avLst>
              <a:gd name="adj" fmla="val 1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0DA0FA-9860-48DE-B72D-4159C3A1D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13525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8E9EC"/>
          </a:solidFill>
          <a:ln xmlns:a="http://schemas.openxmlformats.org/drawingml/2006/main" w="0">
            <a:solidFill>
              <a:srgbClr val="F8E9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DA2E4F-7E5E-48B3-AFEA-EACE21BBF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4787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9F1D2F"/>
                </a:solidFill>
              </a:defRPr>
            </a:pPr>
            <a:r>
              <a:rPr sz="975" b="1">
                <a:solidFill>
                  <a:srgbClr val="9F1D2F"/>
                </a:solidFill>
              </a:rPr>
              <a:t>PRIMARY PERSONA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00716D-2041-4301-AAA6-F0B7989CA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1A1C"/>
                </a:solidFill>
              </a:defRPr>
            </a:pPr>
            <a:r>
              <a:rPr sz="1875" b="1">
                <a:solidFill>
                  <a:srgbClr val="201A1C"/>
                </a:solidFill>
              </a:rPr>
              <a:t>Ananya Rao, 31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694B1F-49AC-46AC-9957-C78C9E836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6164"/>
                </a:solidFill>
              </a:defRPr>
            </a:pPr>
            <a:r>
              <a:rPr sz="1125" b="0">
                <a:solidFill>
                  <a:srgbClr val="686164"/>
                </a:solidFill>
              </a:rPr>
              <a:t>Product manager  |  Bengaluru  |  INDIE salary customer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A6D89F-5433-4277-B97B-E7BD8B26D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7660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F1D2F"/>
                </a:solidFill>
              </a:defRPr>
            </a:pPr>
            <a:r>
              <a:rPr sz="900" b="1">
                <a:solidFill>
                  <a:srgbClr val="9F1D2F"/>
                </a:solidFill>
              </a:rPr>
              <a:t>OWNS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FAB14E-2C57-443D-A246-DCEB7FF6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2575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1A1C"/>
                </a:solidFill>
              </a:defRPr>
            </a:pPr>
            <a:r>
              <a:rPr sz="1200" b="0">
                <a:solidFill>
                  <a:srgbClr val="201A1C"/>
                </a:solidFill>
              </a:rPr>
              <a:t>Car policy + family health cover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93A1CF-91A8-4015-A785-730FBE358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ADD"/>
          </a:solidFill>
          <a:ln xmlns:a="http://schemas.openxmlformats.org/drawingml/2006/main" w="0">
            <a:solidFill>
              <a:srgbClr val="DEDA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EBE356-38D1-476F-B41E-8D7EB691C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909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F1D2F"/>
                </a:solidFill>
              </a:defRPr>
            </a:pPr>
            <a:r>
              <a:rPr sz="900" b="1">
                <a:solidFill>
                  <a:srgbClr val="9F1D2F"/>
                </a:solidFill>
              </a:rPr>
              <a:t>BEHAVIOUR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C6654A-EA1C-4D60-88E2-3541563F4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7719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1A1C"/>
                </a:solidFill>
              </a:defRPr>
            </a:pPr>
            <a:r>
              <a:rPr sz="1200" b="0">
                <a:solidFill>
                  <a:srgbClr val="201A1C"/>
                </a:solidFill>
              </a:rPr>
              <a:t>Mobile-first, compares before buying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AD1351-3F85-46A0-930B-A9B859E79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14800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ADD"/>
          </a:solidFill>
          <a:ln xmlns:a="http://schemas.openxmlformats.org/drawingml/2006/main" w="0">
            <a:solidFill>
              <a:srgbClr val="DEDAD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7D34C6-C783-4BC3-9FA5-9C4A0B812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0530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F1D2F"/>
                </a:solidFill>
              </a:defRPr>
            </a:pPr>
            <a:r>
              <a:rPr sz="900" b="1">
                <a:solidFill>
                  <a:srgbClr val="9F1D2F"/>
                </a:solidFill>
              </a:rPr>
              <a:t>TRIGGER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349C0F-EAD3-41C2-B1AC-1D48CD439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862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1A1C"/>
                </a:solidFill>
              </a:defRPr>
            </a:pPr>
            <a:r>
              <a:rPr sz="1200" b="0">
                <a:solidFill>
                  <a:srgbClr val="201A1C"/>
                </a:solidFill>
              </a:rPr>
              <a:t>Motor renewal due; parents ageing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171713-78D2-43CC-928B-E18C3D4EB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29150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ADD"/>
          </a:solidFill>
          <a:ln xmlns:a="http://schemas.openxmlformats.org/drawingml/2006/main" w="0">
            <a:solidFill>
              <a:srgbClr val="DEDAD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EAAF0C-F0D5-4CFE-8CE1-1AB9BF65C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196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F1D2F"/>
                </a:solidFill>
              </a:defRPr>
            </a:pPr>
            <a:r>
              <a:rPr sz="900" b="1">
                <a:solidFill>
                  <a:srgbClr val="9F1D2F"/>
                </a:solidFill>
              </a:rPr>
              <a:t>FRUSTRATION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411BC2-64ED-46F0-B506-18EDC6C7B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8006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1A1C"/>
                </a:solidFill>
              </a:defRPr>
            </a:pPr>
            <a:r>
              <a:rPr sz="1200" b="1">
                <a:solidFill>
                  <a:srgbClr val="201A1C"/>
                </a:solidFill>
              </a:rPr>
              <a:t>Does not know what is covered until a claim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A2B398-A294-4EEF-832D-B38CC046F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9250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ADD"/>
          </a:solidFill>
          <a:ln xmlns:a="http://schemas.openxmlformats.org/drawingml/2006/main" w="0">
            <a:solidFill>
              <a:srgbClr val="DEDAD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0B4551-3DE0-4400-94B2-750805B78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007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F1D2F"/>
                </a:solidFill>
              </a:defRPr>
            </a:pPr>
            <a:r>
              <a:rPr sz="900" b="1">
                <a:solidFill>
                  <a:srgbClr val="9F1D2F"/>
                </a:solidFill>
              </a:rPr>
              <a:t>JOB TO BE DONE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03D73C-E706-46F8-BA2B-42B42FF8A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543550"/>
            <a:ext cx="3905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1A1C"/>
                </a:solidFill>
              </a:defRPr>
            </a:pPr>
            <a:r>
              <a:rPr sz="1275" b="1">
                <a:solidFill>
                  <a:srgbClr val="201A1C"/>
                </a:solidFill>
              </a:rPr>
              <a:t>“Help me understand my protection and take the right action before, during, and after an incident.”</a:t>
            </a:r>
          </a:p>
        </p:txBody>
      </p:sp>
    </p:spTree>
    <p:extLst>
      <p:ext uri="{BB962C8B-B14F-4D97-AF65-F5344CB8AC3E}">
        <p14:creationId xmlns:p14="http://schemas.microsoft.com/office/powerpoint/2010/main" val="19218920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2B158AC-15B4-467E-BBDC-F793788F5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D2F"/>
          </a:solidFill>
          <a:ln xmlns:a="http://schemas.openxmlformats.org/drawingml/2006/main" w="0">
            <a:solidFill>
              <a:srgbClr val="9F1D2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3263C0-2B36-4186-AF4C-07FB5130D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F1D2F"/>
                </a:solidFill>
              </a:defRPr>
            </a:pPr>
            <a:r>
              <a:rPr sz="1125" b="1">
                <a:solidFill>
                  <a:srgbClr val="9F1D2F"/>
                </a:solidFill>
              </a:rPr>
              <a:t>INDIE  PROTECT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4F69D0-463B-4213-BAA3-C43D35EF5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57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164"/>
                </a:solidFill>
              </a:defRPr>
            </a:pPr>
            <a:r>
              <a:rPr sz="975" b="1">
                <a:solidFill>
                  <a:srgbClr val="686164"/>
                </a:solidFill>
              </a:rPr>
              <a:t>OPPORTUNITY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10457B-B0AE-496B-91C0-F4A59DFF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1A1C"/>
                </a:solidFill>
              </a:defRPr>
            </a:pPr>
            <a:r>
              <a:rPr sz="2700" b="1">
                <a:solidFill>
                  <a:srgbClr val="201A1C"/>
                </a:solidFill>
              </a:rPr>
              <a:t>Start with 15M INDIE retail accounts and earn the right to expand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1AE6EB-D767-453A-A8D0-3FDC7D521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6164"/>
                </a:solidFill>
              </a:defRPr>
            </a:pPr>
            <a:r>
              <a:rPr sz="1275" b="0">
                <a:solidFill>
                  <a:srgbClr val="686164"/>
                </a:solidFill>
              </a:rPr>
              <a:t>A focused motor + health wedge uses existing customer trust and digital reach, then expands into a unified protection ecosystem.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8731EB-6AE8-4D00-901A-3954F4194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164"/>
                </a:solidFill>
              </a:defRPr>
            </a:pPr>
            <a:r>
              <a:rPr sz="975" b="1">
                <a:solidFill>
                  <a:srgbClr val="686164"/>
                </a:solidFill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6092CE-4C69-4C6F-8374-AAFFB78E1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1A1C"/>
                </a:solidFill>
              </a:defRPr>
            </a:pPr>
            <a:r>
              <a:rPr sz="1500" b="1">
                <a:solidFill>
                  <a:srgbClr val="201A1C"/>
                </a:solidFill>
              </a:rPr>
              <a:t>Reach funnel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16F050-B9DB-4D81-BCD1-C2B6F06D7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533400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9F1D2F"/>
          </a:solidFill>
          <a:ln xmlns:a="http://schemas.openxmlformats.org/drawingml/2006/main" w="0">
            <a:solidFill>
              <a:srgbClr val="9F1D2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ADE722-E327-44E5-88B1-4C3C16EBE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TAM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6E3190-8C76-4040-9AD4-593949252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71725"/>
            <a:ext cx="1000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41M+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BA2798-5146-4920-B19F-BCCC194E8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41935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IndusInd customers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8B4758-AD48-48E9-8F82-70AA46C60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19450"/>
            <a:ext cx="457200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2D658E"/>
          </a:solidFill>
          <a:ln xmlns:a="http://schemas.openxmlformats.org/drawingml/2006/main" w="0">
            <a:solidFill>
              <a:srgbClr val="2D658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3479A0-30A9-498F-B06D-2BE8E5394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52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SAM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7A0C90-C6C4-4AE3-810A-24FAF5E9E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343275"/>
            <a:ext cx="1000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15M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E15BC1-3E27-4076-A44B-8AF6365A2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39090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Retail accounts targeted for INDIE migration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9BDDF0-A386-48EF-9363-6E2D628B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91000"/>
            <a:ext cx="381000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167968"/>
          </a:solidFill>
          <a:ln xmlns:a="http://schemas.openxmlformats.org/drawingml/2006/main" w="0">
            <a:solidFill>
              <a:srgbClr val="16796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C556A9-3D4B-43A3-8C3D-23247DC83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243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SOM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18E183-CF7C-4381-BED4-DADFCB311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314825"/>
            <a:ext cx="1000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1.5M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153BD9-9666-4B9F-BDE0-4283907AD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362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Three-year insured-customer ambition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FFFE60-AB2C-4199-9345-355A49258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14350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6164"/>
                </a:solidFill>
              </a:defRPr>
            </a:pPr>
            <a:r>
              <a:rPr sz="975" b="0">
                <a:solidFill>
                  <a:srgbClr val="686164"/>
                </a:solidFill>
              </a:rPr>
              <a:t>Assumption: SOM = 10% of SAM in three years.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B4D164-60FC-4A1C-845A-71E93796B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47850"/>
            <a:ext cx="491490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9214D9-E21C-4189-97ED-52BDF38EF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095500"/>
            <a:ext cx="16764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5D7"/>
          </a:solidFill>
          <a:ln xmlns:a="http://schemas.openxmlformats.org/drawingml/2006/main" w="0">
            <a:solidFill>
              <a:srgbClr val="FFF5D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EAFB71-F373-46F1-801E-DF8E9A643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14312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D4B00"/>
                </a:solidFill>
              </a:defRPr>
            </a:pPr>
            <a:r>
              <a:rPr sz="975" b="1">
                <a:solidFill>
                  <a:srgbClr val="6D4B00"/>
                </a:solidFill>
              </a:rPr>
              <a:t>WHY MOTOR + HEALTH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E828CF-8CDF-407A-89AA-587B0DAC5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571750"/>
            <a:ext cx="2857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9F2F8"/>
          </a:solidFill>
          <a:ln xmlns:a="http://schemas.openxmlformats.org/drawingml/2006/main" w="0">
            <a:solidFill>
              <a:srgbClr val="E9F2F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B23BB0-9B99-431E-8786-029987CEF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289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D658E"/>
                </a:solidFill>
              </a:defRPr>
            </a:pPr>
            <a:r>
              <a:rPr sz="975" b="1">
                <a:solidFill>
                  <a:srgbClr val="2D658E"/>
                </a:solidFill>
              </a:rPr>
              <a:t>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FDD0CF-4ED4-4448-9ACB-4DD94F448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52700"/>
            <a:ext cx="3714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1A1C"/>
                </a:solidFill>
              </a:defRPr>
            </a:pPr>
            <a:r>
              <a:rPr sz="1275" b="1">
                <a:solidFill>
                  <a:srgbClr val="201A1C"/>
                </a:solidFill>
              </a:rPr>
              <a:t>High-frequency trigger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AEF65C-0C33-4440-8746-1B76D7F6A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8098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6164"/>
                </a:solidFill>
              </a:defRPr>
            </a:pPr>
            <a:r>
              <a:rPr sz="1050" b="0">
                <a:solidFill>
                  <a:srgbClr val="686164"/>
                </a:solidFill>
              </a:rPr>
              <a:t>Motor renewal creates a predictable annual moment.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6D9B30-3918-41A9-AB2B-5AE4055CC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295650"/>
            <a:ext cx="2857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8E9EC"/>
          </a:solidFill>
          <a:ln xmlns:a="http://schemas.openxmlformats.org/drawingml/2006/main" w="0">
            <a:solidFill>
              <a:srgbClr val="F8E9E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135785-F624-4EFA-88ED-5CD816CDF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3528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9F1D2F"/>
                </a:solidFill>
              </a:defRPr>
            </a:pPr>
            <a:r>
              <a:rPr sz="975" b="1">
                <a:solidFill>
                  <a:srgbClr val="9F1D2F"/>
                </a:solidFill>
              </a:rPr>
              <a:t>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8C5F9E-B4BA-4D27-805F-F81D0F968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276600"/>
            <a:ext cx="3714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1A1C"/>
                </a:solidFill>
              </a:defRPr>
            </a:pPr>
            <a:r>
              <a:rPr sz="1275" b="1">
                <a:solidFill>
                  <a:srgbClr val="201A1C"/>
                </a:solidFill>
              </a:rPr>
              <a:t>High-stakes gap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C8ADD4-B5EF-4DA5-9E61-0648B7AC6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5337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6164"/>
                </a:solidFill>
              </a:defRPr>
            </a:pPr>
            <a:r>
              <a:rPr sz="1050" b="0">
                <a:solidFill>
                  <a:srgbClr val="686164"/>
                </a:solidFill>
              </a:rPr>
              <a:t>Health underinsurance threatens household savings.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288851-8772-4627-BAF2-D09ABF175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019550"/>
            <a:ext cx="2857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9F2F8"/>
          </a:solidFill>
          <a:ln xmlns:a="http://schemas.openxmlformats.org/drawingml/2006/main" w="0">
            <a:solidFill>
              <a:srgbClr val="E9F2F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716BB2-85C3-4413-BCE6-EDCF687BE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0767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D658E"/>
                </a:solidFill>
              </a:defRPr>
            </a:pPr>
            <a:r>
              <a:rPr sz="975" b="1">
                <a:solidFill>
                  <a:srgbClr val="2D658E"/>
                </a:solidFill>
              </a:rPr>
              <a:t>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EE030DD-4998-45B7-A341-DBF010057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000500"/>
            <a:ext cx="3714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1A1C"/>
                </a:solidFill>
              </a:defRPr>
            </a:pPr>
            <a:r>
              <a:rPr sz="1275" b="1">
                <a:solidFill>
                  <a:srgbClr val="201A1C"/>
                </a:solidFill>
              </a:rPr>
              <a:t>Shared lifecycle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D6F8C02-E66A-4929-A955-B8A20BAB4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2576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6164"/>
                </a:solidFill>
              </a:defRPr>
            </a:pPr>
            <a:r>
              <a:rPr sz="1050" b="0">
                <a:solidFill>
                  <a:srgbClr val="686164"/>
                </a:solidFill>
              </a:rPr>
              <a:t>Both need discovery, documents, claims, and renewals.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8834E20-54CB-4447-9A90-549B81469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781550"/>
            <a:ext cx="438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ADD"/>
          </a:solidFill>
          <a:ln xmlns:a="http://schemas.openxmlformats.org/drawingml/2006/main" w="0">
            <a:solidFill>
              <a:srgbClr val="DEDAD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805CD9C-6AC8-4A1B-9693-507DAB8D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9339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6164"/>
                </a:solidFill>
              </a:defRPr>
            </a:pPr>
            <a:r>
              <a:rPr sz="975" b="0">
                <a:solidFill>
                  <a:srgbClr val="686164"/>
                </a:solidFill>
              </a:rPr>
              <a:t>Illustrative premium throughput at SOM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DD874E6-18D6-4FA6-914B-32D672001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8768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67968"/>
                </a:solidFill>
              </a:defRPr>
            </a:pPr>
            <a:r>
              <a:rPr sz="1500" b="1">
                <a:solidFill>
                  <a:srgbClr val="167968"/>
                </a:solidFill>
              </a:rPr>
              <a:t>Rs. 1,200 crore / year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BED09DD-277B-4979-956A-765F42F0C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219700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6164"/>
                </a:solidFill>
              </a:defRPr>
            </a:pPr>
            <a:r>
              <a:rPr sz="900" b="0">
                <a:solidFill>
                  <a:srgbClr val="686164"/>
                </a:solidFill>
              </a:rPr>
              <a:t>1.5M customers x assumed Rs. 8,000 annual premium. This is premium throughput, not revenue.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1AB163C-8EE2-4BA7-9875-86F43E4CD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A7376"/>
                </a:solidFill>
              </a:defRPr>
            </a:pPr>
            <a:r>
              <a:rPr sz="900" b="0">
                <a:solidFill>
                  <a:srgbClr val="7A7376"/>
                </a:solidFill>
              </a:rPr>
              <a:t>Sources: IndusInd Bank Annual Report 2024-25; INDIE press release, 5 Jun 2025. SOM and premium are assumptions.</a:t>
            </a:r>
          </a:p>
        </p:txBody>
      </p:sp>
    </p:spTree>
    <p:extLst>
      <p:ext uri="{BB962C8B-B14F-4D97-AF65-F5344CB8AC3E}">
        <p14:creationId xmlns:p14="http://schemas.microsoft.com/office/powerpoint/2010/main" val="8493358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15BB4BB-3EE2-4454-BE84-060C1B711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D2F"/>
          </a:solidFill>
          <a:ln xmlns:a="http://schemas.openxmlformats.org/drawingml/2006/main" w="0">
            <a:solidFill>
              <a:srgbClr val="9F1D2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1A0767-C24F-4C02-819C-E641960EE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F1D2F"/>
                </a:solidFill>
              </a:defRPr>
            </a:pPr>
            <a:r>
              <a:rPr sz="1125" b="1">
                <a:solidFill>
                  <a:srgbClr val="9F1D2F"/>
                </a:solidFill>
              </a:rPr>
              <a:t>INDIE  PROTECT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AA8E8A-EF86-4057-974E-F23291C4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57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164"/>
                </a:solidFill>
              </a:defRPr>
            </a:pPr>
            <a:r>
              <a:rPr sz="975" b="1">
                <a:solidFill>
                  <a:srgbClr val="686164"/>
                </a:solidFill>
              </a:rPr>
              <a:t>COMPETITION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B63C88-4426-405A-80D1-A98BDF34A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1A1C"/>
                </a:solidFill>
              </a:defRPr>
            </a:pPr>
            <a:r>
              <a:rPr sz="2700" b="1">
                <a:solidFill>
                  <a:srgbClr val="201A1C"/>
                </a:solidFill>
              </a:rPr>
              <a:t>Competitors solve transactions; INDIE Protect connects the lifecycle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D57261-CE28-4233-BD19-77E735A59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6164"/>
                </a:solidFill>
              </a:defRPr>
            </a:pPr>
            <a:r>
              <a:rPr sz="1275" b="0">
                <a:solidFill>
                  <a:srgbClr val="686164"/>
                </a:solidFill>
              </a:rPr>
              <a:t>The whitespace is a consent-led, bank-native experience that unifies external policies, proactive insights, claims, and value-added services.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A7C2F8-0A0C-41D5-94F4-1D7255EB4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164"/>
                </a:solidFill>
              </a:defRPr>
            </a:pPr>
            <a:r>
              <a:rPr sz="975" b="1">
                <a:solidFill>
                  <a:srgbClr val="686164"/>
                </a:solidFill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16B34C-71E8-4C8B-87CF-7C44289DF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2000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02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22EB0C-BD5B-4023-846E-73777667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2882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PLAYER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F3B909-217C-42FB-B2C5-D4BB7E898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885950"/>
            <a:ext cx="152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D2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783345-47C4-458C-BC31-CD4742B58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02882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COMPARE /</a:t>
            </a:r>
          </a:p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BUY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2C62A8-DA9B-4B71-8B6F-971EC32F4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885950"/>
            <a:ext cx="152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D2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49A5AB-A12C-4559-A801-EAC234BC7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02882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UNIFIED</a:t>
            </a:r>
          </a:p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VAULT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5D1AC8-EF72-45DC-837D-AA655EC79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88595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D2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BD3F29-B710-46FE-8872-75DBF0188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028825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PROACTIVE</a:t>
            </a:r>
          </a:p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BANK INSIGHT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378685-F2E3-4E64-9EDB-6051E4A60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885950"/>
            <a:ext cx="152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D2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C118CB-6C97-41CC-BBE3-23FED547C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02882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CLAIMS /</a:t>
            </a:r>
          </a:p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RENEWAL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C4D2C9-FE06-4EDE-A4A0-AA6E6BB56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885950"/>
            <a:ext cx="152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D2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02146B-00A9-4FC3-8FE8-BD267BCA5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02882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SERVICES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803B06-3390-47CC-A89A-62FA3CC40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2000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81DA58-F500-453C-A9DD-4139C75CD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146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1A1C"/>
                </a:solidFill>
              </a:defRPr>
            </a:pPr>
            <a:r>
              <a:rPr sz="1125" b="1">
                <a:solidFill>
                  <a:srgbClr val="201A1C"/>
                </a:solidFill>
              </a:rPr>
              <a:t>Policybazaar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3AD193-15C8-4839-BF98-F7E0487D4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514600"/>
            <a:ext cx="152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6183CA-E530-4D02-827D-43D4DABFC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71462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7968"/>
                </a:solidFill>
              </a:defRPr>
            </a:pPr>
            <a:r>
              <a:rPr sz="1050" b="1">
                <a:solidFill>
                  <a:srgbClr val="167968"/>
                </a:solidFill>
              </a:rPr>
              <a:t>Strong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8153CD-5BD5-49C5-91D6-51A8C4611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514600"/>
            <a:ext cx="152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485E87-D9C6-4FBE-9681-D1FF81A2E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71462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A5600"/>
                </a:solidFill>
              </a:defRPr>
            </a:pPr>
            <a:r>
              <a:rPr sz="1050" b="0">
                <a:solidFill>
                  <a:srgbClr val="7A5600"/>
                </a:solidFill>
              </a:rPr>
              <a:t>Partial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E4A680-EE77-4300-B8CD-11249FE3B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51460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928955-2AD1-47DF-9595-7DBE95540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7146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39B9E"/>
                </a:solidFill>
              </a:defRPr>
            </a:pPr>
            <a:r>
              <a:rPr sz="1050" b="0">
                <a:solidFill>
                  <a:srgbClr val="A39B9E"/>
                </a:solidFill>
              </a:rPr>
              <a:t>-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525824-F649-4249-9E20-58550387D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14600"/>
            <a:ext cx="152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0E3F4D-B456-4829-9683-2DC318971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71462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A5600"/>
                </a:solidFill>
              </a:defRPr>
            </a:pPr>
            <a:r>
              <a:rPr sz="1050" b="0">
                <a:solidFill>
                  <a:srgbClr val="7A5600"/>
                </a:solidFill>
              </a:rPr>
              <a:t>Partial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137482-517A-4991-A1E5-385F189DD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514600"/>
            <a:ext cx="152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4C3895-38A3-408C-89FD-D89CFD769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71462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39B9E"/>
                </a:solidFill>
              </a:defRPr>
            </a:pPr>
            <a:r>
              <a:rPr sz="1050" b="0">
                <a:solidFill>
                  <a:srgbClr val="A39B9E"/>
                </a:solidFill>
              </a:rPr>
              <a:t>-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BA9F074-A70F-4734-9E4D-E24D97B7C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2000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C5739DE-BC1E-4DBD-9CAE-199100786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432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1A1C"/>
                </a:solidFill>
              </a:defRPr>
            </a:pPr>
            <a:r>
              <a:rPr sz="1125" b="1">
                <a:solidFill>
                  <a:srgbClr val="201A1C"/>
                </a:solidFill>
              </a:rPr>
              <a:t>ACKO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E4225CE-27C6-4471-BBA5-2347CAFF2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143250"/>
            <a:ext cx="152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4C0AD24-979B-4F23-A563-F841B9B84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34327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A5600"/>
                </a:solidFill>
              </a:defRPr>
            </a:pPr>
            <a:r>
              <a:rPr sz="1050" b="0">
                <a:solidFill>
                  <a:srgbClr val="7A5600"/>
                </a:solidFill>
              </a:rPr>
              <a:t>Own / partners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0476571-0597-4003-A81D-46C8D425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143250"/>
            <a:ext cx="152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F5DD566-A342-49DE-83C5-49AB6B015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34327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A5600"/>
                </a:solidFill>
              </a:defRPr>
            </a:pPr>
            <a:r>
              <a:rPr sz="1050" b="0">
                <a:solidFill>
                  <a:srgbClr val="7A5600"/>
                </a:solidFill>
              </a:rPr>
              <a:t>Partial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0184AFF-5D35-4168-8649-186B37B0E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14325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385D44A-43A6-400D-93FD-2A2312A54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3432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39B9E"/>
                </a:solidFill>
              </a:defRPr>
            </a:pPr>
            <a:r>
              <a:rPr sz="1050" b="0">
                <a:solidFill>
                  <a:srgbClr val="A39B9E"/>
                </a:solidFill>
              </a:rPr>
              <a:t>-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D0F54EE-272E-49C5-879C-1D1F9E6F0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143250"/>
            <a:ext cx="152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9D51F68-2851-4514-ADD1-5CB4D20BF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34327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7968"/>
                </a:solidFill>
              </a:defRPr>
            </a:pPr>
            <a:r>
              <a:rPr sz="1050" b="1">
                <a:solidFill>
                  <a:srgbClr val="167968"/>
                </a:solidFill>
              </a:rPr>
              <a:t>Strong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8176AEE-3DE1-4643-974E-F0A6BBF10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43250"/>
            <a:ext cx="152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7F5B9B2-400A-4C33-9B08-EE4C11CF5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34327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7968"/>
                </a:solidFill>
              </a:defRPr>
            </a:pPr>
            <a:r>
              <a:rPr sz="1050" b="1">
                <a:solidFill>
                  <a:srgbClr val="167968"/>
                </a:solidFill>
              </a:rPr>
              <a:t>Strong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5D18202-089A-465F-A865-D5A7ECAB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2000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105E5B7-313F-49B9-A56D-DE4519314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719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1A1C"/>
                </a:solidFill>
              </a:defRPr>
            </a:pPr>
            <a:r>
              <a:rPr sz="1125" b="1">
                <a:solidFill>
                  <a:srgbClr val="201A1C"/>
                </a:solidFill>
              </a:rPr>
              <a:t>Digit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D07A82B-89D6-4AED-A28A-A5EB616DD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71900"/>
            <a:ext cx="152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CB1AF65-C293-4194-B9A1-3A89C06D5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97192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A5600"/>
                </a:solidFill>
              </a:defRPr>
            </a:pPr>
            <a:r>
              <a:rPr sz="1050" b="0">
                <a:solidFill>
                  <a:srgbClr val="7A5600"/>
                </a:solidFill>
              </a:rPr>
              <a:t>Own products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06F9F3E-BA0E-4B3E-8224-7F9668D40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771900"/>
            <a:ext cx="152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1EC8F28-C3CE-4EF0-9F25-DF26F4536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7192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39B9E"/>
                </a:solidFill>
              </a:defRPr>
            </a:pPr>
            <a:r>
              <a:rPr sz="1050" b="0">
                <a:solidFill>
                  <a:srgbClr val="A39B9E"/>
                </a:solidFill>
              </a:rPr>
              <a:t>-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3B54795-AA66-4F4D-88A1-B983D0ADE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77190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C9D427B-679A-4ACC-B7CD-73B21476B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9719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39B9E"/>
                </a:solidFill>
              </a:defRPr>
            </a:pPr>
            <a:r>
              <a:rPr sz="1050" b="0">
                <a:solidFill>
                  <a:srgbClr val="A39B9E"/>
                </a:solidFill>
              </a:rPr>
              <a:t>-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BDBC941-038C-4B0F-A21D-B5019088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771900"/>
            <a:ext cx="152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DE78729-EF10-4877-AA2B-1E1A957DE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97192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7968"/>
                </a:solidFill>
              </a:defRPr>
            </a:pPr>
            <a:r>
              <a:rPr sz="1050" b="1">
                <a:solidFill>
                  <a:srgbClr val="167968"/>
                </a:solidFill>
              </a:rPr>
              <a:t>Strong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EEDC033-7502-4969-8574-1EFCB4607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771900"/>
            <a:ext cx="152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D234BB3-27D0-4E91-9731-C9A69D6B6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97192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A5600"/>
                </a:solidFill>
              </a:defRPr>
            </a:pPr>
            <a:r>
              <a:rPr sz="1050" b="0">
                <a:solidFill>
                  <a:srgbClr val="7A5600"/>
                </a:solidFill>
              </a:rPr>
              <a:t>Partial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DBF8691-53DD-4131-9700-EF67A4894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2000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3006A0E-2B3B-48D0-8C30-5C650E11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005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1A1C"/>
                </a:solidFill>
              </a:defRPr>
            </a:pPr>
            <a:r>
              <a:rPr sz="1125" b="1">
                <a:solidFill>
                  <a:srgbClr val="201A1C"/>
                </a:solidFill>
              </a:rPr>
              <a:t>IndusInd today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ABC9D03-CFCE-43D7-934A-EE7204E8F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00550"/>
            <a:ext cx="152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08DDF86-FFB5-48AA-B42F-573C02FBF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60057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A5600"/>
                </a:solidFill>
              </a:defRPr>
            </a:pPr>
            <a:r>
              <a:rPr sz="1050" b="0">
                <a:solidFill>
                  <a:srgbClr val="7A5600"/>
                </a:solidFill>
              </a:rPr>
              <a:t>Own products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D19DD85-BB62-4E7A-B57C-18323D349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400550"/>
            <a:ext cx="152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43A9A3D-47EB-4668-8950-0A78516D4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0057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A5600"/>
                </a:solidFill>
              </a:defRPr>
            </a:pPr>
            <a:r>
              <a:rPr sz="1050" b="0">
                <a:solidFill>
                  <a:srgbClr val="7A5600"/>
                </a:solidFill>
              </a:rPr>
              <a:t>Own only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606B3CE-C29E-431C-B6E6-EB5AAB027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40055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CA8E96D-3075-4C80-B2EF-046F96BA7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600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39B9E"/>
                </a:solidFill>
              </a:defRPr>
            </a:pPr>
            <a:r>
              <a:rPr sz="1050" b="0">
                <a:solidFill>
                  <a:srgbClr val="A39B9E"/>
                </a:solidFill>
              </a:rPr>
              <a:t>-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19F867D-800B-457F-AAE6-C64DD6898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400550"/>
            <a:ext cx="152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D2C38E3-E1DB-4179-8A21-D5C0BAD53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60057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7968"/>
                </a:solidFill>
              </a:defRPr>
            </a:pPr>
            <a:r>
              <a:rPr sz="1050" b="1">
                <a:solidFill>
                  <a:srgbClr val="167968"/>
                </a:solidFill>
              </a:rPr>
              <a:t>Strong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37C25F7-6FA6-4162-AFBB-8C31DDCD8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400550"/>
            <a:ext cx="152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F5F0495-9273-418A-9AE3-DF57657ED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60057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A5600"/>
                </a:solidFill>
              </a:defRPr>
            </a:pPr>
            <a:r>
              <a:rPr sz="1050" b="0">
                <a:solidFill>
                  <a:srgbClr val="7A5600"/>
                </a:solidFill>
              </a:rPr>
              <a:t>Partial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0FFA944-E6AC-4902-8CE0-A71913038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2000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C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A5F83D2-F63E-4D13-AD25-6BCF3720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292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F1D2F"/>
                </a:solidFill>
              </a:defRPr>
            </a:pPr>
            <a:r>
              <a:rPr sz="1125" b="1">
                <a:solidFill>
                  <a:srgbClr val="9F1D2F"/>
                </a:solidFill>
              </a:rPr>
              <a:t>INDIE Protect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BA1EDAE-40CA-41D4-928D-BE23CA42A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029200"/>
            <a:ext cx="152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C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F7B4F17-7140-42E1-A7B7-8368958C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22922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7968"/>
                </a:solidFill>
              </a:defRPr>
            </a:pPr>
            <a:r>
              <a:rPr sz="1050" b="1">
                <a:solidFill>
                  <a:srgbClr val="167968"/>
                </a:solidFill>
              </a:rPr>
              <a:t>Strong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B227C61-5531-44EB-BB94-A7B223B1A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029200"/>
            <a:ext cx="152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C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AC0BE4B-CB1D-4996-94C3-AFFA17A7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22922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7968"/>
                </a:solidFill>
              </a:defRPr>
            </a:pPr>
            <a:r>
              <a:rPr sz="1050" b="1">
                <a:solidFill>
                  <a:srgbClr val="167968"/>
                </a:solidFill>
              </a:rPr>
              <a:t>Cross-insurer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539404D-C6F9-4A89-AF8F-CDB3F341E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502920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C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51511A8-750C-403E-9C98-1D0C79E60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2292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7968"/>
                </a:solidFill>
              </a:defRPr>
            </a:pPr>
            <a:r>
              <a:rPr sz="1050" b="1">
                <a:solidFill>
                  <a:srgbClr val="167968"/>
                </a:solidFill>
              </a:rPr>
              <a:t>Strong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E5317A8-DA3D-4A77-813B-1F1B18081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029200"/>
            <a:ext cx="152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C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C5F600B-C7CD-4296-8517-C01682363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22922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7968"/>
                </a:solidFill>
              </a:defRPr>
            </a:pPr>
            <a:r>
              <a:rPr sz="1050" b="1">
                <a:solidFill>
                  <a:srgbClr val="167968"/>
                </a:solidFill>
              </a:rPr>
              <a:t>Strong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B76605C-90DD-413D-B902-5B0BCA702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029200"/>
            <a:ext cx="152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C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187284E-E84B-45BA-8A15-D2CDDA3C6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22922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7968"/>
                </a:solidFill>
              </a:defRPr>
            </a:pPr>
            <a:r>
              <a:rPr sz="1050" b="1">
                <a:solidFill>
                  <a:srgbClr val="167968"/>
                </a:solidFill>
              </a:rPr>
              <a:t>Strong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86D2CA8-4622-40AB-8AFC-FF5027442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9F2F8"/>
          </a:solidFill>
          <a:ln xmlns:a="http://schemas.openxmlformats.org/drawingml/2006/main" w="0">
            <a:solidFill>
              <a:srgbClr val="E9F2F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42F2FC7-DDDB-452F-ABC6-6CCF79256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436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658E"/>
                </a:solidFill>
              </a:defRPr>
            </a:pPr>
            <a:r>
              <a:rPr sz="1050" b="1">
                <a:solidFill>
                  <a:srgbClr val="2D658E"/>
                </a:solidFill>
              </a:rPr>
              <a:t>Strategic edge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47EDB4E-3601-4808-8BA5-1450870D7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905500"/>
            <a:ext cx="923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1A1C"/>
                </a:solidFill>
              </a:defRPr>
            </a:pPr>
            <a:r>
              <a:rPr sz="1125" b="1">
                <a:solidFill>
                  <a:srgbClr val="201A1C"/>
                </a:solidFill>
              </a:rPr>
              <a:t>Use bank trust and consented context to recommend the next protection action, then complete it in the same experience.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4A1E6C8-05F7-447A-9300-2CEB90BA0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A7376"/>
                </a:solidFill>
              </a:defRPr>
            </a:pPr>
            <a:r>
              <a:rPr sz="900" b="0">
                <a:solidFill>
                  <a:srgbClr val="7A7376"/>
                </a:solidFill>
              </a:rPr>
              <a:t>Sources: ACKO, Policybazaar, Digit, and IndusInd General Insurance official app/claims pages. Assessment based on public feature descriptions.</a:t>
            </a:r>
          </a:p>
        </p:txBody>
      </p:sp>
    </p:spTree>
    <p:extLst>
      <p:ext uri="{BB962C8B-B14F-4D97-AF65-F5344CB8AC3E}">
        <p14:creationId xmlns:p14="http://schemas.microsoft.com/office/powerpoint/2010/main" val="16355182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0578A9D-407E-4549-B4AC-F49C77630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D2F"/>
          </a:solidFill>
          <a:ln xmlns:a="http://schemas.openxmlformats.org/drawingml/2006/main" w="0">
            <a:solidFill>
              <a:srgbClr val="9F1D2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757DD7-15DB-46B6-AD81-DB711B3DF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F1D2F"/>
                </a:solidFill>
              </a:defRPr>
            </a:pPr>
            <a:r>
              <a:rPr sz="1125" b="1">
                <a:solidFill>
                  <a:srgbClr val="9F1D2F"/>
                </a:solidFill>
              </a:rPr>
              <a:t>INDIE  PROTECT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9CBA1F-77B4-44B3-8598-54A6F7E4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57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164"/>
                </a:solidFill>
              </a:defRPr>
            </a:pPr>
            <a:r>
              <a:rPr sz="975" b="1">
                <a:solidFill>
                  <a:srgbClr val="686164"/>
                </a:solidFill>
              </a:rPr>
              <a:t>VISION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08ED46-C511-40F6-B6B8-F94150956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1A1C"/>
                </a:solidFill>
              </a:defRPr>
            </a:pPr>
            <a:r>
              <a:rPr sz="2700" b="1">
                <a:solidFill>
                  <a:srgbClr val="201A1C"/>
                </a:solidFill>
              </a:rPr>
              <a:t>Know. Cover. Act.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96701F-6B04-4186-AE37-3A2C34DBD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6164"/>
                </a:solidFill>
              </a:defRPr>
            </a:pPr>
            <a:r>
              <a:rPr sz="1275" b="0">
                <a:solidFill>
                  <a:srgbClr val="686164"/>
                </a:solidFill>
              </a:rPr>
              <a:t>INDIE Protect transforms insurance from a policy transaction into an ongoing protection service.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D0CAAF-7AB5-411A-884B-20690CC43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164"/>
                </a:solidFill>
              </a:defRPr>
            </a:pPr>
            <a:r>
              <a:rPr sz="975" b="1">
                <a:solidFill>
                  <a:srgbClr val="686164"/>
                </a:solidFill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F835FE-2A34-4456-A139-1AC68CD2D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339090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FB8F92-C6EA-4D31-A65A-0ED60A07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33909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F1D2F"/>
          </a:solidFill>
          <a:ln xmlns:a="http://schemas.openxmlformats.org/drawingml/2006/main" w="0">
            <a:solidFill>
              <a:srgbClr val="9F1D2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8E5110-562D-412C-B0B5-99C65249A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8001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8E9EC"/>
          </a:solidFill>
          <a:ln xmlns:a="http://schemas.openxmlformats.org/drawingml/2006/main" w="0">
            <a:solidFill>
              <a:srgbClr val="F8E9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9352E2-AD27-446C-B84D-FD95E28DE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288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9F1D2F"/>
                </a:solidFill>
              </a:defRPr>
            </a:pPr>
            <a:r>
              <a:rPr sz="975" b="1">
                <a:solidFill>
                  <a:srgbClr val="9F1D2F"/>
                </a:solidFill>
              </a:rPr>
              <a:t>KNOW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4448C7-134A-4219-880F-2C221F75C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38450"/>
            <a:ext cx="2971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1A1C"/>
                </a:solidFill>
              </a:defRPr>
            </a:pPr>
            <a:r>
              <a:rPr sz="1725" b="1">
                <a:solidFill>
                  <a:srgbClr val="201A1C"/>
                </a:solidFill>
              </a:rPr>
              <a:t>See every policy and gap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8B581A-A225-4B3C-92B5-B35D1EDA0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76625"/>
            <a:ext cx="2971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6164"/>
                </a:solidFill>
              </a:defRPr>
            </a:pPr>
            <a:r>
              <a:rPr sz="1125" b="0">
                <a:solidFill>
                  <a:srgbClr val="686164"/>
                </a:solidFill>
              </a:rPr>
              <a:t>A protection score, plain-language summaries, and a cross-insurer policy vault.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67D4E6-E5DE-40B5-A33C-2037430A8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76450"/>
            <a:ext cx="339090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39703D-8E1E-468C-815F-1C3F7E1CC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76450"/>
            <a:ext cx="33909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658E"/>
          </a:solidFill>
          <a:ln xmlns:a="http://schemas.openxmlformats.org/drawingml/2006/main" w="0">
            <a:solidFill>
              <a:srgbClr val="2D658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D5116C-4F9F-428B-A11D-282CC4583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81250"/>
            <a:ext cx="8001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9F2F8"/>
          </a:solidFill>
          <a:ln xmlns:a="http://schemas.openxmlformats.org/drawingml/2006/main" w="0">
            <a:solidFill>
              <a:srgbClr val="E9F2F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22060E-91FB-4447-8DF1-77326957B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288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D658E"/>
                </a:solidFill>
              </a:defRPr>
            </a:pPr>
            <a:r>
              <a:rPr sz="975" b="1">
                <a:solidFill>
                  <a:srgbClr val="2D658E"/>
                </a:solidFill>
              </a:rPr>
              <a:t>COVER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B26896-7A90-477C-A35E-6F6C20889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38450"/>
            <a:ext cx="2971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1A1C"/>
                </a:solidFill>
              </a:defRPr>
            </a:pPr>
            <a:r>
              <a:rPr sz="1725" b="1">
                <a:solidFill>
                  <a:srgbClr val="201A1C"/>
                </a:solidFill>
              </a:rPr>
              <a:t>Choose with transparent trade-offs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B2ADC4-E7AB-4B65-9D60-2A3D1385E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476625"/>
            <a:ext cx="2971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6164"/>
                </a:solidFill>
              </a:defRPr>
            </a:pPr>
            <a:r>
              <a:rPr sz="1125" b="0">
                <a:solidFill>
                  <a:srgbClr val="686164"/>
                </a:solidFill>
              </a:rPr>
              <a:t>Profile-matched recommendations, side-by-side comparison, and secure bank-linked purchase.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E64F50-BE09-4F7D-A598-5F6FECA19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76450"/>
            <a:ext cx="339090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49EA74-92D4-4F20-A9C0-91E0A94F7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76450"/>
            <a:ext cx="33909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968"/>
          </a:solidFill>
          <a:ln xmlns:a="http://schemas.openxmlformats.org/drawingml/2006/main" w="0">
            <a:solidFill>
              <a:srgbClr val="16796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C40AF3-03A6-4F7F-9E64-69DDEA1E4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81250"/>
            <a:ext cx="8001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8F5F1"/>
          </a:solidFill>
          <a:ln xmlns:a="http://schemas.openxmlformats.org/drawingml/2006/main" w="0">
            <a:solidFill>
              <a:srgbClr val="E8F5F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AAC66F-2DA2-4281-8A8E-26D525DBA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288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7968"/>
                </a:solidFill>
              </a:defRPr>
            </a:pPr>
            <a:r>
              <a:rPr sz="975" b="1">
                <a:solidFill>
                  <a:srgbClr val="167968"/>
                </a:solidFill>
              </a:rPr>
              <a:t>ACT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751DEF-96BC-4A8F-83F8-30BA3448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38450"/>
            <a:ext cx="2971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1A1C"/>
                </a:solidFill>
              </a:defRPr>
            </a:pPr>
            <a:r>
              <a:rPr sz="1725" b="1">
                <a:solidFill>
                  <a:srgbClr val="201A1C"/>
                </a:solidFill>
              </a:rPr>
              <a:t>Get help with clear ownership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F467A2-2580-4E8A-B595-0481B051D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76625"/>
            <a:ext cx="2971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6164"/>
                </a:solidFill>
              </a:defRPr>
            </a:pPr>
            <a:r>
              <a:rPr sz="1125" b="0">
                <a:solidFill>
                  <a:srgbClr val="686164"/>
                </a:solidFill>
              </a:rPr>
              <a:t>Guided claims, visible status, renewals, roadside assistance, and telemedicine.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D2B04B-315E-4D63-A368-1E395B01B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09728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2B2024"/>
          </a:solidFill>
          <a:ln xmlns:a="http://schemas.openxmlformats.org/drawingml/2006/main" w="0">
            <a:solidFill>
              <a:srgbClr val="2B202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9C4373-FA3E-4F8D-BF48-0484C32F0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815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0BBC4"/>
                </a:solidFill>
              </a:defRPr>
            </a:pPr>
            <a:r>
              <a:rPr sz="975" b="1">
                <a:solidFill>
                  <a:srgbClr val="F0BBC4"/>
                </a:solidFill>
              </a:rPr>
              <a:t>CUSTOMER VALUE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CBE15D-68AF-4646-AFAC-8F6FC2DC3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6730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Confidence before purchase and control during a claim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9934AA-85F3-4106-92ED-94F44CDF3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7815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6DDF0"/>
                </a:solidFill>
              </a:defRPr>
            </a:pPr>
            <a:r>
              <a:rPr sz="975" b="1">
                <a:solidFill>
                  <a:srgbClr val="C6DDF0"/>
                </a:solidFill>
              </a:rPr>
              <a:t>BANK VALUE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49ACA6-33DE-48B2-AA6F-105FFD1F0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06730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Higher adoption, retention, and relevant cross-sell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00868D-A683-49CE-89A2-8CA5987B3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7815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DE4DA"/>
                </a:solidFill>
              </a:defRPr>
            </a:pPr>
            <a:r>
              <a:rPr sz="975" b="1">
                <a:solidFill>
                  <a:srgbClr val="BDE4DA"/>
                </a:solidFill>
              </a:rPr>
              <a:t>INSURER VALUE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DFB18B-0943-47C6-AD1C-A8C820423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06730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Cleaner intake, stronger engagement, fewer avoidable lapses</a:t>
            </a:r>
          </a:p>
        </p:txBody>
      </p:sp>
    </p:spTree>
    <p:extLst>
      <p:ext uri="{BB962C8B-B14F-4D97-AF65-F5344CB8AC3E}">
        <p14:creationId xmlns:p14="http://schemas.microsoft.com/office/powerpoint/2010/main" val="11371492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A1C9EBB-AEC7-4847-94E2-2FF059C6B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D2F"/>
          </a:solidFill>
          <a:ln xmlns:a="http://schemas.openxmlformats.org/drawingml/2006/main" w="0">
            <a:solidFill>
              <a:srgbClr val="9F1D2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538D3D-3F28-4BFF-BFE6-B28C862A3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F1D2F"/>
                </a:solidFill>
              </a:defRPr>
            </a:pPr>
            <a:r>
              <a:rPr sz="1125" b="1">
                <a:solidFill>
                  <a:srgbClr val="9F1D2F"/>
                </a:solidFill>
              </a:rPr>
              <a:t>INDIE  PROTECT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84839C-AE22-4D2C-BE01-36C87C60A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57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164"/>
                </a:solidFill>
              </a:defRPr>
            </a:pPr>
            <a:r>
              <a:rPr sz="975" b="1">
                <a:solidFill>
                  <a:srgbClr val="686164"/>
                </a:solidFill>
              </a:rPr>
              <a:t>JOURNEY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196C9B-28A9-4B3F-8E1C-0F860B4C4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1A1C"/>
                </a:solidFill>
              </a:defRPr>
            </a:pPr>
            <a:r>
              <a:rPr sz="2700" b="1">
                <a:solidFill>
                  <a:srgbClr val="201A1C"/>
                </a:solidFill>
              </a:rPr>
              <a:t>The experience creates a repeatable protection loop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5F7B1E-33BE-4090-8BDB-252F016C5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6164"/>
                </a:solidFill>
              </a:defRPr>
            </a:pPr>
            <a:r>
              <a:rPr sz="1275" b="0">
                <a:solidFill>
                  <a:srgbClr val="686164"/>
                </a:solidFill>
              </a:rPr>
              <a:t>Each stage produces a useful action and better context for the next stage, without turning sensitive bank data into a claim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811D9B-80D9-4DF0-9903-F4DE43AF0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164"/>
                </a:solidFill>
              </a:defRPr>
            </a:pPr>
            <a:r>
              <a:rPr sz="975" b="1">
                <a:solidFill>
                  <a:srgbClr val="686164"/>
                </a:solidFill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1BEB45-D026-4F18-8C22-E34DEE54D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581150" cy="26860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DF4C54-093E-4E08-A315-DF1331849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1D2F"/>
          </a:solidFill>
          <a:ln xmlns:a="http://schemas.openxmlformats.org/drawingml/2006/main" w="0">
            <a:solidFill>
              <a:srgbClr val="9F1D2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8EA6BB-7623-48C0-B4BF-58CDC81A6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8BB50E-E6A6-42FD-90BA-BCF8A3D5E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F1D2F"/>
                </a:solidFill>
              </a:defRPr>
            </a:pPr>
            <a:r>
              <a:rPr sz="975" b="1">
                <a:solidFill>
                  <a:srgbClr val="9F1D2F"/>
                </a:solidFill>
              </a:rPr>
              <a:t>DISCOVER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A6710E-430A-4FE0-AC9C-87E077745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123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1A1C"/>
                </a:solidFill>
              </a:defRPr>
            </a:pPr>
            <a:r>
              <a:rPr sz="1500" b="1">
                <a:solidFill>
                  <a:srgbClr val="201A1C"/>
                </a:solidFill>
              </a:rPr>
              <a:t>Gap signal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AD8AD2-84E9-457C-BCE9-DA7BCC971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29050"/>
            <a:ext cx="123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6164"/>
                </a:solidFill>
              </a:defRPr>
            </a:pPr>
            <a:r>
              <a:rPr sz="1050" b="0">
                <a:solidFill>
                  <a:srgbClr val="686164"/>
                </a:solidFill>
              </a:rPr>
              <a:t>Profile and life-stage recommendations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BA364C-14E3-4AAD-95D6-B6949E02C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31432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F1D2F"/>
                </a:solidFill>
              </a:defRPr>
            </a:pPr>
            <a:r>
              <a:rPr sz="1800" b="1">
                <a:solidFill>
                  <a:srgbClr val="9F1D2F"/>
                </a:solidFill>
              </a:rPr>
              <a:t>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0B4029-2E13-44F0-877A-64B8F4C05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095500"/>
            <a:ext cx="1581150" cy="26860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26F66A-1A8F-4AA5-8899-A3FB803D4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305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1D2F"/>
          </a:solidFill>
          <a:ln xmlns:a="http://schemas.openxmlformats.org/drawingml/2006/main" w="0">
            <a:solidFill>
              <a:srgbClr val="9F1D2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13D720-CCE4-44F2-A608-7D63E22C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381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E97F72-B745-4E94-97B5-16D6A84DE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8003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F1D2F"/>
                </a:solidFill>
              </a:defRPr>
            </a:pPr>
            <a:r>
              <a:rPr sz="975" b="1">
                <a:solidFill>
                  <a:srgbClr val="9F1D2F"/>
                </a:solidFill>
              </a:rPr>
              <a:t>COMPARE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5CB2B8-5474-48DE-8879-8D95CFAC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143250"/>
            <a:ext cx="123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1A1C"/>
                </a:solidFill>
              </a:defRPr>
            </a:pPr>
            <a:r>
              <a:rPr sz="1500" b="1">
                <a:solidFill>
                  <a:srgbClr val="201A1C"/>
                </a:solidFill>
              </a:rPr>
              <a:t>Trade-off clarity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2D2C63-5669-4CF1-954F-DABAC2F86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29050"/>
            <a:ext cx="123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6164"/>
                </a:solidFill>
              </a:defRPr>
            </a:pPr>
            <a:r>
              <a:rPr sz="1050" b="0">
                <a:solidFill>
                  <a:srgbClr val="686164"/>
                </a:solidFill>
              </a:rPr>
              <a:t>Premium, cover, exclusions, fit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E94D55-ACFC-4601-B81E-84CD86F2C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31432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F1D2F"/>
                </a:solidFill>
              </a:defRPr>
            </a:pPr>
            <a:r>
              <a:rPr sz="1800" b="1">
                <a:solidFill>
                  <a:srgbClr val="9F1D2F"/>
                </a:solidFill>
              </a:rPr>
              <a:t>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6070F7-FC8D-4F57-9144-6E85ECA82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095500"/>
            <a:ext cx="1581150" cy="26860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B97A22-7C12-4DC9-BC7D-09E60C175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05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1D2F"/>
          </a:solidFill>
          <a:ln xmlns:a="http://schemas.openxmlformats.org/drawingml/2006/main" w="0">
            <a:solidFill>
              <a:srgbClr val="9F1D2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2FCC26-FB86-479B-805E-88705122C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81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24347F-D4DC-4BDC-B720-DB927A271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003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F1D2F"/>
                </a:solidFill>
              </a:defRPr>
            </a:pPr>
            <a:r>
              <a:rPr sz="975" b="1">
                <a:solidFill>
                  <a:srgbClr val="9F1D2F"/>
                </a:solidFill>
              </a:rPr>
              <a:t>BUY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E7F5DE-396A-450E-8BC5-B64E9A46C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43250"/>
            <a:ext cx="123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1A1C"/>
                </a:solidFill>
              </a:defRPr>
            </a:pPr>
            <a:r>
              <a:rPr sz="1500" b="1">
                <a:solidFill>
                  <a:srgbClr val="201A1C"/>
                </a:solidFill>
              </a:rPr>
              <a:t>Low-friction issue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15A930-4A42-4117-9FC8-18FE4A093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29050"/>
            <a:ext cx="123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6164"/>
                </a:solidFill>
              </a:defRPr>
            </a:pPr>
            <a:r>
              <a:rPr sz="1050" b="0">
                <a:solidFill>
                  <a:srgbClr val="686164"/>
                </a:solidFill>
              </a:rPr>
              <a:t>Consent and bank-linked payment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EE6576-5FBC-435C-92B0-D0C90785E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31432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F1D2F"/>
                </a:solidFill>
              </a:defRPr>
            </a:pPr>
            <a:r>
              <a:rPr sz="1800" b="1">
                <a:solidFill>
                  <a:srgbClr val="9F1D2F"/>
                </a:solidFill>
              </a:rPr>
              <a:t>&gt;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569999-3044-4B34-A945-21CD008D0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095500"/>
            <a:ext cx="1581150" cy="26860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DA6B1E-C27D-4044-9AEF-56959CA9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05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1D2F"/>
          </a:solidFill>
          <a:ln xmlns:a="http://schemas.openxmlformats.org/drawingml/2006/main" w="0">
            <a:solidFill>
              <a:srgbClr val="9F1D2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4AC65F-B420-4947-A9B8-80B8B0722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81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A14F09-AA54-47C7-A4DE-AC7F74F9D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003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F1D2F"/>
                </a:solidFill>
              </a:defRPr>
            </a:pPr>
            <a:r>
              <a:rPr sz="975" b="1">
                <a:solidFill>
                  <a:srgbClr val="9F1D2F"/>
                </a:solidFill>
              </a:rPr>
              <a:t>MANAGE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4D48E7-8B45-4CF4-9C45-555E05075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43250"/>
            <a:ext cx="123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1A1C"/>
                </a:solidFill>
              </a:defRPr>
            </a:pPr>
            <a:r>
              <a:rPr sz="1500" b="1">
                <a:solidFill>
                  <a:srgbClr val="201A1C"/>
                </a:solidFill>
              </a:rPr>
              <a:t>One vault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F2A1D0F-DBA4-48E6-8F4B-CFDBFEC7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29050"/>
            <a:ext cx="123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6164"/>
                </a:solidFill>
              </a:defRPr>
            </a:pPr>
            <a:r>
              <a:rPr sz="1050" b="0">
                <a:solidFill>
                  <a:srgbClr val="686164"/>
                </a:solidFill>
              </a:rPr>
              <a:t>Documents, plain language, reminders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784CCE9-2158-459A-A9BD-4405EBCA9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1432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F1D2F"/>
                </a:solidFill>
              </a:defRPr>
            </a:pPr>
            <a:r>
              <a:rPr sz="1800" b="1">
                <a:solidFill>
                  <a:srgbClr val="9F1D2F"/>
                </a:solidFill>
              </a:rPr>
              <a:t>&gt;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188284E-428F-4593-AAE9-B06DFEA56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095500"/>
            <a:ext cx="1581150" cy="26860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5075449-17A9-4CA8-9966-C87FDF67A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05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3B3F"/>
          </a:solidFill>
          <a:ln xmlns:a="http://schemas.openxmlformats.org/drawingml/2006/main" w="0">
            <a:solidFill>
              <a:srgbClr val="C63B3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C79E922-1DFE-4C37-9D48-5D636F5EB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81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77BF0A0-AE12-41F6-920F-755220937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003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F1D2F"/>
                </a:solidFill>
              </a:defRPr>
            </a:pPr>
            <a:r>
              <a:rPr sz="975" b="1">
                <a:solidFill>
                  <a:srgbClr val="9F1D2F"/>
                </a:solidFill>
              </a:rPr>
              <a:t>CLAIM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C99C2D5-27FD-4B2A-8D6A-99AE4896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43250"/>
            <a:ext cx="123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1A1C"/>
                </a:solidFill>
              </a:defRPr>
            </a:pPr>
            <a:r>
              <a:rPr sz="1500" b="1">
                <a:solidFill>
                  <a:srgbClr val="201A1C"/>
                </a:solidFill>
              </a:rPr>
              <a:t>Visible ownership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EF16007-9034-44D0-BC07-24C9DFD07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29050"/>
            <a:ext cx="123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6164"/>
                </a:solidFill>
              </a:defRPr>
            </a:pPr>
            <a:r>
              <a:rPr sz="1050" b="0">
                <a:solidFill>
                  <a:srgbClr val="686164"/>
                </a:solidFill>
              </a:rPr>
              <a:t>Evidence, next step, status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A0885C3-D7AF-4B26-9236-834D1CD3E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1432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F1D2F"/>
                </a:solidFill>
              </a:defRPr>
            </a:pPr>
            <a:r>
              <a:rPr sz="1800" b="1">
                <a:solidFill>
                  <a:srgbClr val="9F1D2F"/>
                </a:solidFill>
              </a:rPr>
              <a:t>&gt;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5893298-7C3F-4286-9CF9-841783EE6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095500"/>
            <a:ext cx="1581150" cy="26860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F10AFB3-A404-4490-BA1E-B63868713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305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968"/>
          </a:solidFill>
          <a:ln xmlns:a="http://schemas.openxmlformats.org/drawingml/2006/main" w="0">
            <a:solidFill>
              <a:srgbClr val="16796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3CFC7F5-6154-4CA7-8CA7-F198729AB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381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4167840-D8DD-4527-B4B7-350E7F932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8003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F1D2F"/>
                </a:solidFill>
              </a:defRPr>
            </a:pPr>
            <a:r>
              <a:rPr sz="975" b="1">
                <a:solidFill>
                  <a:srgbClr val="9F1D2F"/>
                </a:solidFill>
              </a:rPr>
              <a:t>RENEW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FCB0F60-74D4-4B5A-B817-7B0E4EA4E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143250"/>
            <a:ext cx="123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1A1C"/>
                </a:solidFill>
              </a:defRPr>
            </a:pPr>
            <a:r>
              <a:rPr sz="1500" b="1">
                <a:solidFill>
                  <a:srgbClr val="201A1C"/>
                </a:solidFill>
              </a:rPr>
              <a:t>Protection review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CB7D75B-4EB6-477D-BA6B-B9FB2EA87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829050"/>
            <a:ext cx="123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6164"/>
                </a:solidFill>
              </a:defRPr>
            </a:pPr>
            <a:r>
              <a:rPr sz="1050" b="0">
                <a:solidFill>
                  <a:srgbClr val="686164"/>
                </a:solidFill>
              </a:rPr>
              <a:t>Continuity, NCB, proactive advice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F3C14DF-0FDD-4087-8262-718CAE52E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972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8F5F1"/>
          </a:solidFill>
          <a:ln xmlns:a="http://schemas.openxmlformats.org/drawingml/2006/main" w="0">
            <a:solidFill>
              <a:srgbClr val="E8F5F1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0A5363E-357A-4F20-9443-EE06AC4B0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340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7968"/>
                </a:solidFill>
              </a:defRPr>
            </a:pPr>
            <a:r>
              <a:rPr sz="975" b="1">
                <a:solidFill>
                  <a:srgbClr val="167968"/>
                </a:solidFill>
              </a:rPr>
              <a:t>THE LOOP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4E2782E-CC2E-4AE8-BBA3-A3F6D3941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276850"/>
            <a:ext cx="914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1A1C"/>
                </a:solidFill>
              </a:defRPr>
            </a:pPr>
            <a:r>
              <a:rPr sz="1350" b="1">
                <a:solidFill>
                  <a:srgbClr val="201A1C"/>
                </a:solidFill>
              </a:rPr>
              <a:t>Every protected action improves the next recommendation, but underwriting and claim decisions remain purpose-limited and explainable.</a:t>
            </a:r>
          </a:p>
        </p:txBody>
      </p:sp>
    </p:spTree>
    <p:extLst>
      <p:ext uri="{BB962C8B-B14F-4D97-AF65-F5344CB8AC3E}">
        <p14:creationId xmlns:p14="http://schemas.microsoft.com/office/powerpoint/2010/main" val="1631176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2088F8-763F-4289-9AE2-C9DFD68C0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D2F"/>
          </a:solidFill>
          <a:ln xmlns:a="http://schemas.openxmlformats.org/drawingml/2006/main" w="0">
            <a:solidFill>
              <a:srgbClr val="9F1D2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4829B0-8510-4619-8A79-FA0AB27F8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F1D2F"/>
                </a:solidFill>
              </a:defRPr>
            </a:pPr>
            <a:r>
              <a:rPr sz="1125" b="1">
                <a:solidFill>
                  <a:srgbClr val="9F1D2F"/>
                </a:solidFill>
              </a:rPr>
              <a:t>INDIE  PROTECT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A07256-CBC8-4364-A7AE-A2BF57D67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57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164"/>
                </a:solidFill>
              </a:defRPr>
            </a:pPr>
            <a:r>
              <a:rPr sz="975" b="1">
                <a:solidFill>
                  <a:srgbClr val="686164"/>
                </a:solidFill>
              </a:rPr>
              <a:t>PROTOTYPE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87CD34-4640-48B9-AB28-97CA54D26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1A1C"/>
                </a:solidFill>
              </a:defRPr>
            </a:pPr>
            <a:r>
              <a:rPr sz="2700" b="1">
                <a:solidFill>
                  <a:srgbClr val="201A1C"/>
                </a:solidFill>
              </a:rPr>
              <a:t>The dashboard turns fragmented cover into clear next actions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F28597-1749-4D03-90B9-424D46D34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6164"/>
                </a:solidFill>
              </a:defRPr>
            </a:pPr>
            <a:r>
              <a:rPr sz="1275" b="0">
                <a:solidFill>
                  <a:srgbClr val="686164"/>
                </a:solidFill>
              </a:rPr>
              <a:t>The home experience is not a product catalogue. It prioritises protection gaps, imminent renewals, policies, and immediate help.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D37E8D-4D8B-42A3-8794-276197F86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164"/>
                </a:solidFill>
              </a:defRPr>
            </a:pPr>
            <a:r>
              <a:rPr sz="975" b="1">
                <a:solidFill>
                  <a:srgbClr val="686164"/>
                </a:solidFill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780CAD-9673-4B5A-86D8-CB4A657F8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2171700" cy="47053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2B2024"/>
          </a:solidFill>
          <a:ln xmlns:a="http://schemas.openxmlformats.org/drawingml/2006/main" w="0">
            <a:solidFill>
              <a:srgbClr val="2B202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62e01d429a4597"/>
          <a:srcRect xmlns:a="http://schemas.openxmlformats.org/drawingml/2006/main" l="1759" t="0" r="175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7725" y="1819275"/>
            <a:ext cx="2038350" cy="4572000"/>
          </a:xfrm>
          <a:prstGeom xmlns:a="http://schemas.openxmlformats.org/drawingml/2006/main" prst="roundRect">
            <a:avLst>
              <a:gd name="adj" fmla="val 3738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B11345-ECB6-4235-989E-34CA67173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752600"/>
            <a:ext cx="2171700" cy="47053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2B2024"/>
          </a:solidFill>
          <a:ln xmlns:a="http://schemas.openxmlformats.org/drawingml/2006/main" w="0">
            <a:solidFill>
              <a:srgbClr val="2B202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d72aced7e246b4"/>
          <a:srcRect xmlns:a="http://schemas.openxmlformats.org/drawingml/2006/main" l="1759" t="0" r="175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57575" y="1819275"/>
            <a:ext cx="2038350" cy="4572000"/>
          </a:xfrm>
          <a:prstGeom xmlns:a="http://schemas.openxmlformats.org/drawingml/2006/main" prst="roundRect">
            <a:avLst>
              <a:gd name="adj" fmla="val 3738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86EFFD-1C3A-4DE1-A83A-BEBD98F47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81200"/>
            <a:ext cx="4953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3C9C80-EE16-4F22-95D6-55B578B18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14550"/>
            <a:ext cx="2857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8E9EC"/>
          </a:solidFill>
          <a:ln xmlns:a="http://schemas.openxmlformats.org/drawingml/2006/main" w="0">
            <a:solidFill>
              <a:srgbClr val="F8E9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F35CF2-B0AB-4B2B-B0AF-AFF145151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717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9F1D2F"/>
                </a:solidFill>
              </a:defRPr>
            </a:pPr>
            <a:r>
              <a:rPr sz="975" b="1">
                <a:solidFill>
                  <a:srgbClr val="9F1D2F"/>
                </a:solidFill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F46BD8-2BA9-4591-8F61-9F077411A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05025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1A1C"/>
                </a:solidFill>
              </a:defRPr>
            </a:pPr>
            <a:r>
              <a:rPr sz="1275" b="1">
                <a:solidFill>
                  <a:srgbClr val="201A1C"/>
                </a:solidFill>
              </a:rPr>
              <a:t>Protection score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D05A03-EC0B-44FB-8970-E711E8A1A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390775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6164"/>
                </a:solidFill>
              </a:defRPr>
            </a:pPr>
            <a:r>
              <a:rPr sz="1050" b="0">
                <a:solidFill>
                  <a:srgbClr val="686164"/>
                </a:solidFill>
              </a:rPr>
              <a:t>One number converts passive ownership into an improvement path.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79B89C-3A37-4A3A-86DB-2FD0F995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48000"/>
            <a:ext cx="4953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5B5E01-15B1-4619-A018-2D346DC20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81350"/>
            <a:ext cx="2857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5D7"/>
          </a:solidFill>
          <a:ln xmlns:a="http://schemas.openxmlformats.org/drawingml/2006/main" w="0">
            <a:solidFill>
              <a:srgbClr val="FFF5D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C100C7-BC84-4EA5-BBC0-4C21D3809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385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65300"/>
                </a:solidFill>
              </a:defRPr>
            </a:pPr>
            <a:r>
              <a:rPr sz="975" b="1">
                <a:solidFill>
                  <a:srgbClr val="765300"/>
                </a:solidFill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D1FFB9-2ECC-451D-BFC7-FF42F0461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171825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1A1C"/>
                </a:solidFill>
              </a:defRPr>
            </a:pPr>
            <a:r>
              <a:rPr sz="1275" b="1">
                <a:solidFill>
                  <a:srgbClr val="201A1C"/>
                </a:solidFill>
              </a:rPr>
              <a:t>Renewal urgency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E4F360-618B-485C-811B-5C5538C3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457575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6164"/>
                </a:solidFill>
              </a:defRPr>
            </a:pPr>
            <a:r>
              <a:rPr sz="1050" b="0">
                <a:solidFill>
                  <a:srgbClr val="686164"/>
                </a:solidFill>
              </a:rPr>
              <a:t>The due date, no-claim bonus, and action appear together.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AAFBEB-3860-4547-A696-1689029AA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14800"/>
            <a:ext cx="4953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FD5E8B-9074-464A-B62A-A83241E59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48150"/>
            <a:ext cx="2857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9F2F8"/>
          </a:solidFill>
          <a:ln xmlns:a="http://schemas.openxmlformats.org/drawingml/2006/main" w="0">
            <a:solidFill>
              <a:srgbClr val="E9F2F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7A3380-CC6D-4EB0-9CF7-127FECDFB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053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D658E"/>
                </a:solidFill>
              </a:defRPr>
            </a:pPr>
            <a:r>
              <a:rPr sz="975" b="1">
                <a:solidFill>
                  <a:srgbClr val="2D658E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6A097F-91F9-46B9-8C8E-59E1E4EC0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238625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1A1C"/>
                </a:solidFill>
              </a:defRPr>
            </a:pPr>
            <a:r>
              <a:rPr sz="1275" b="1">
                <a:solidFill>
                  <a:srgbClr val="201A1C"/>
                </a:solidFill>
              </a:rPr>
              <a:t>Cross-insurer vault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F46A04-FAA5-460A-B2F7-B9E88CBE4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524375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6164"/>
                </a:solidFill>
              </a:defRPr>
            </a:pPr>
            <a:r>
              <a:rPr sz="1050" b="0">
                <a:solidFill>
                  <a:srgbClr val="686164"/>
                </a:solidFill>
              </a:rPr>
              <a:t>Customers can manage IndusInd and external policies in one view.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242AE4-32E5-4089-B9BE-074D7C57B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81600"/>
            <a:ext cx="4953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438BF7-77BA-40A9-8C74-48738D480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314950"/>
            <a:ext cx="2857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F5F1"/>
          </a:solidFill>
          <a:ln xmlns:a="http://schemas.openxmlformats.org/drawingml/2006/main" w="0">
            <a:solidFill>
              <a:srgbClr val="E8F5F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9C4DF9-43D9-450F-BD44-059625747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3721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7968"/>
                </a:solidFill>
              </a:defRPr>
            </a:pPr>
            <a:r>
              <a:rPr sz="975" b="1">
                <a:solidFill>
                  <a:srgbClr val="167968"/>
                </a:solidFill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E8FB81-9032-4428-9E65-83B14F39B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305425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1A1C"/>
                </a:solidFill>
              </a:defRPr>
            </a:pPr>
            <a:r>
              <a:rPr sz="1275" b="1">
                <a:solidFill>
                  <a:srgbClr val="201A1C"/>
                </a:solidFill>
              </a:rPr>
              <a:t>Consent control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A2ADD0-584A-45C0-B509-F25DCAC1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591175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6164"/>
                </a:solidFill>
              </a:defRPr>
            </a:pPr>
            <a:r>
              <a:rPr sz="1050" b="0">
                <a:solidFill>
                  <a:srgbClr val="686164"/>
                </a:solidFill>
              </a:rPr>
              <a:t>Connected data helps find gaps; the customer can remove access.</a:t>
            </a:r>
          </a:p>
        </p:txBody>
      </p:sp>
    </p:spTree>
    <p:extLst>
      <p:ext uri="{BB962C8B-B14F-4D97-AF65-F5344CB8AC3E}">
        <p14:creationId xmlns:p14="http://schemas.microsoft.com/office/powerpoint/2010/main" val="12533030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E3BD86-1A2F-42C7-A7D3-16D788745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D2F"/>
          </a:solidFill>
          <a:ln xmlns:a="http://schemas.openxmlformats.org/drawingml/2006/main" w="0">
            <a:solidFill>
              <a:srgbClr val="9F1D2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6303F2-9ED8-481A-AAD4-8C8B14567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F1D2F"/>
                </a:solidFill>
              </a:defRPr>
            </a:pPr>
            <a:r>
              <a:rPr sz="1125" b="1">
                <a:solidFill>
                  <a:srgbClr val="9F1D2F"/>
                </a:solidFill>
              </a:rPr>
              <a:t>INDIE  PROTECT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36DAF9-B6DD-4991-8A3B-E98715DF1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57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164"/>
                </a:solidFill>
              </a:defRPr>
            </a:pPr>
            <a:r>
              <a:rPr sz="975" b="1">
                <a:solidFill>
                  <a:srgbClr val="686164"/>
                </a:solidFill>
              </a:rPr>
              <a:t>PROTOTYPE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6FF9EC-FE6C-4D7D-8ED5-57DD90247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1A1C"/>
                </a:solidFill>
              </a:defRPr>
            </a:pPr>
            <a:r>
              <a:rPr sz="2700" b="1">
                <a:solidFill>
                  <a:srgbClr val="201A1C"/>
                </a:solidFill>
              </a:rPr>
              <a:t>Comparison makes trade-offs visible before purchase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974CF8-2B30-4757-A687-5F9E40EB7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6164"/>
                </a:solidFill>
              </a:defRPr>
            </a:pPr>
            <a:r>
              <a:rPr sz="1275" b="0">
                <a:solidFill>
                  <a:srgbClr val="686164"/>
                </a:solidFill>
              </a:rPr>
              <a:t>Customers see fit, insured value, add-ons, and exclusions in the same decision surface, then complete a simulated bank-linked checkout.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AD5C3B-7FE3-4F39-AE97-F26817F03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164"/>
                </a:solidFill>
              </a:defRPr>
            </a:pPr>
            <a:r>
              <a:rPr sz="975" b="1">
                <a:solidFill>
                  <a:srgbClr val="686164"/>
                </a:solidFill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D683ED-EC2C-4BC8-B4FE-43482719B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2076450" cy="449580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2B2024"/>
          </a:solidFill>
          <a:ln xmlns:a="http://schemas.openxmlformats.org/drawingml/2006/main" w="0">
            <a:solidFill>
              <a:srgbClr val="2B202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060c6eae944d6e"/>
          <a:srcRect xmlns:a="http://schemas.openxmlformats.org/drawingml/2006/main" l="1804" t="0" r="18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1525" y="1876425"/>
            <a:ext cx="1943100" cy="4362450"/>
          </a:xfrm>
          <a:prstGeom xmlns:a="http://schemas.openxmlformats.org/drawingml/2006/main" prst="roundRect">
            <a:avLst>
              <a:gd name="adj" fmla="val 3922"/>
            </a:avLst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db2b182d2b41ba"/>
          <a:srcRect xmlns:a="http://schemas.openxmlformats.org/drawingml/2006/main" l="0" t="10993" r="0" b="109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57550" y="1847850"/>
            <a:ext cx="7981950" cy="4324350"/>
          </a:xfrm>
          <a:prstGeom xmlns:a="http://schemas.openxmlformats.org/drawingml/2006/main" prst="roundRect">
            <a:avLst>
              <a:gd name="adj" fmla="val 1762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098DAD-A7E6-413F-AB98-D6EE3B232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391150"/>
            <a:ext cx="361950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9FAD1F-4024-40C2-8807-D5A9D4BC7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5054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F1D2F"/>
                </a:solidFill>
              </a:defRPr>
            </a:pPr>
            <a:r>
              <a:rPr sz="1050" b="1">
                <a:solidFill>
                  <a:srgbClr val="9F1D2F"/>
                </a:solidFill>
              </a:rPr>
              <a:t>Why this matters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7772D6-A803-425A-87F1-9DA40BBC3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4673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1A1C"/>
                </a:solidFill>
              </a:defRPr>
            </a:pPr>
            <a:r>
              <a:rPr sz="1050" b="1">
                <a:solidFill>
                  <a:srgbClr val="201A1C"/>
                </a:solidFill>
              </a:rPr>
              <a:t>Rs. 179/month makes the upgrade cost tangible.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CB3AC7-4133-4221-A3FE-386CEB95F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391150"/>
            <a:ext cx="358140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8F5F1"/>
          </a:solidFill>
          <a:ln xmlns:a="http://schemas.openxmlformats.org/drawingml/2006/main" w="0">
            <a:solidFill>
              <a:srgbClr val="E8F5F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8C37C1-BE12-4EF8-BA95-E134A6FA2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505450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968"/>
                </a:solidFill>
              </a:defRPr>
            </a:pPr>
            <a:r>
              <a:rPr sz="1050" b="1">
                <a:solidFill>
                  <a:srgbClr val="167968"/>
                </a:solidFill>
              </a:rPr>
              <a:t>Trust pattern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2B86D2-E453-4B3D-A0B7-CA46737A8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467350"/>
            <a:ext cx="2114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1A1C"/>
                </a:solidFill>
              </a:defRPr>
            </a:pPr>
            <a:r>
              <a:rPr sz="1050" b="1">
                <a:solidFill>
                  <a:srgbClr val="201A1C"/>
                </a:solidFill>
              </a:rPr>
              <a:t>Coverage and exclusions stay visible before confirmation.</a:t>
            </a:r>
          </a:p>
        </p:txBody>
      </p:sp>
    </p:spTree>
    <p:extLst>
      <p:ext uri="{BB962C8B-B14F-4D97-AF65-F5344CB8AC3E}">
        <p14:creationId xmlns:p14="http://schemas.microsoft.com/office/powerpoint/2010/main" val="52831148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2D6213-C7B7-43FE-8AA7-BE83B3260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D2F"/>
          </a:solidFill>
          <a:ln xmlns:a="http://schemas.openxmlformats.org/drawingml/2006/main" w="0">
            <a:solidFill>
              <a:srgbClr val="9F1D2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9410AA-41E5-4599-BE6C-5F2D18352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F1D2F"/>
                </a:solidFill>
              </a:defRPr>
            </a:pPr>
            <a:r>
              <a:rPr sz="1125" b="1">
                <a:solidFill>
                  <a:srgbClr val="9F1D2F"/>
                </a:solidFill>
              </a:rPr>
              <a:t>INDIE  PROTECT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3D0215-2D11-43D2-8DC5-90FF679DB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57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164"/>
                </a:solidFill>
              </a:defRPr>
            </a:pPr>
            <a:r>
              <a:rPr sz="975" b="1">
                <a:solidFill>
                  <a:srgbClr val="686164"/>
                </a:solidFill>
              </a:rPr>
              <a:t>PROTOTYPE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4BDB07-A575-4A03-805A-083C40BE8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1A1C"/>
                </a:solidFill>
              </a:defRPr>
            </a:pPr>
            <a:r>
              <a:rPr sz="2700" b="1">
                <a:solidFill>
                  <a:srgbClr val="201A1C"/>
                </a:solidFill>
              </a:rPr>
              <a:t>Claims show ownership, evidence, and the next step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37A4FB-6AF2-49AD-927E-F035E2646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6164"/>
                </a:solidFill>
              </a:defRPr>
            </a:pPr>
            <a:r>
              <a:rPr sz="1275" b="0">
                <a:solidFill>
                  <a:srgbClr val="686164"/>
                </a:solidFill>
              </a:rPr>
              <a:t>A guided intake reduces document anxiety; tracking states who owns the claim; Protect AI explains policy language using the customer’s context.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6BE3AE-62C8-4376-9F4C-46792E3E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164"/>
                </a:solidFill>
              </a:defRPr>
            </a:pPr>
            <a:r>
              <a:rPr sz="975" b="1">
                <a:solidFill>
                  <a:srgbClr val="686164"/>
                </a:solidFill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CB1743-C3A7-4092-B06E-A79D755B0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52600"/>
            <a:ext cx="2133600" cy="462915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2B2024"/>
          </a:solidFill>
          <a:ln xmlns:a="http://schemas.openxmlformats.org/drawingml/2006/main" w="0">
            <a:solidFill>
              <a:srgbClr val="2B202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b16081f24f4b7a"/>
          <a:srcRect xmlns:a="http://schemas.openxmlformats.org/drawingml/2006/main" l="1858" t="0" r="185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1075" y="1819275"/>
            <a:ext cx="2000250" cy="4495800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8EA348-90B2-4094-B45C-AFBB98695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752600"/>
            <a:ext cx="2133600" cy="462915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2B2024"/>
          </a:solidFill>
          <a:ln xmlns:a="http://schemas.openxmlformats.org/drawingml/2006/main" w="0">
            <a:solidFill>
              <a:srgbClr val="2B202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1d84514c514ac4"/>
          <a:srcRect xmlns:a="http://schemas.openxmlformats.org/drawingml/2006/main" l="1858" t="0" r="185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14725" y="1819275"/>
            <a:ext cx="2000250" cy="4495800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12C06B-C1B6-4179-A609-5DE39FF9D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38350"/>
            <a:ext cx="47625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A855CE-104C-4A85-BC81-162842961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71700"/>
            <a:ext cx="2857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8E9EC"/>
          </a:solidFill>
          <a:ln xmlns:a="http://schemas.openxmlformats.org/drawingml/2006/main" w="0">
            <a:solidFill>
              <a:srgbClr val="F8E9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ECE465-5CD4-4A2F-AE72-4614911B2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288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9F1D2F"/>
                </a:solidFill>
              </a:defRPr>
            </a:pPr>
            <a:r>
              <a:rPr sz="975" b="1">
                <a:solidFill>
                  <a:srgbClr val="9F1D2F"/>
                </a:solidFill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581912-30B8-4F94-96DF-3C7EDB830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162175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1A1C"/>
                </a:solidFill>
              </a:defRPr>
            </a:pPr>
            <a:r>
              <a:rPr sz="1275" b="1">
                <a:solidFill>
                  <a:srgbClr val="201A1C"/>
                </a:solidFill>
              </a:rPr>
              <a:t>Three-step intake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87F482-18E5-4431-A99A-9DC991DD9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47925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6164"/>
                </a:solidFill>
              </a:defRPr>
            </a:pPr>
            <a:r>
              <a:rPr sz="1050" b="0">
                <a:solidFill>
                  <a:srgbClr val="686164"/>
                </a:solidFill>
              </a:rPr>
              <a:t>Incident, evidence, and confirmation. Ask only for what is needed.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B1A57E-FE77-4A7F-85CB-F745D770E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43250"/>
            <a:ext cx="47625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83FDB0-BD72-488D-997C-BB3B9CB5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76600"/>
            <a:ext cx="2857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F5F1"/>
          </a:solidFill>
          <a:ln xmlns:a="http://schemas.openxmlformats.org/drawingml/2006/main" w="0">
            <a:solidFill>
              <a:srgbClr val="E8F5F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C10F4B-A3E6-48D8-B7B7-353E76035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337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7968"/>
                </a:solidFill>
              </a:defRPr>
            </a:pPr>
            <a:r>
              <a:rPr sz="975" b="1">
                <a:solidFill>
                  <a:srgbClr val="167968"/>
                </a:solidFill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55DDE8-1C4E-4C33-A046-7EE15E671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67075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1A1C"/>
                </a:solidFill>
              </a:defRPr>
            </a:pPr>
            <a:r>
              <a:rPr sz="1275" b="1">
                <a:solidFill>
                  <a:srgbClr val="201A1C"/>
                </a:solidFill>
              </a:rPr>
              <a:t>Visible ownership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86D6E5-B6B1-4240-9E6B-E6FC02A79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552825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6164"/>
                </a:solidFill>
              </a:defRPr>
            </a:pPr>
            <a:r>
              <a:rPr sz="1050" b="0">
                <a:solidFill>
                  <a:srgbClr val="686164"/>
                </a:solidFill>
              </a:rPr>
              <a:t>The customer sees the current team, action, and expected update.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BF9753-C2B5-4022-BA57-D504BFD4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48150"/>
            <a:ext cx="47625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3D9DAA-0128-4734-BF43-7FBEECFC8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381500"/>
            <a:ext cx="2857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9F2F8"/>
          </a:solidFill>
          <a:ln xmlns:a="http://schemas.openxmlformats.org/drawingml/2006/main" w="0">
            <a:solidFill>
              <a:srgbClr val="E9F2F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63B631-98B5-4D4F-B47F-A61F9869E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386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D658E"/>
                </a:solidFill>
              </a:defRPr>
            </a:pPr>
            <a:r>
              <a:rPr sz="975" b="1">
                <a:solidFill>
                  <a:srgbClr val="2D658E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690406-47F2-4C0F-B9D6-9709B8644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371975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1A1C"/>
                </a:solidFill>
              </a:defRPr>
            </a:pPr>
            <a:r>
              <a:rPr sz="1275" b="1">
                <a:solidFill>
                  <a:srgbClr val="201A1C"/>
                </a:solidFill>
              </a:rPr>
              <a:t>Plain-language support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EA2787-445D-491A-BAAF-C11121E57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657725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6164"/>
                </a:solidFill>
              </a:defRPr>
            </a:pPr>
            <a:r>
              <a:rPr sz="1050" b="0">
                <a:solidFill>
                  <a:srgbClr val="686164"/>
                </a:solidFill>
              </a:rPr>
              <a:t>AI explains terms and documents but links decisions back to policy wording.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557146-44D4-47C8-AFF9-415E0F496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410200"/>
            <a:ext cx="47625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5D7"/>
          </a:solidFill>
          <a:ln xmlns:a="http://schemas.openxmlformats.org/drawingml/2006/main" w="0">
            <a:solidFill>
              <a:srgbClr val="FFF5D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EE1DAD-FA2A-4B52-A5C9-00786B2CB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524500"/>
            <a:ext cx="144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65300"/>
                </a:solidFill>
              </a:defRPr>
            </a:pPr>
            <a:r>
              <a:rPr sz="1050" b="1">
                <a:solidFill>
                  <a:srgbClr val="765300"/>
                </a:solidFill>
              </a:rPr>
              <a:t>Prototype behaviour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43C226-1A92-4B4D-A472-B3A9457C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486400"/>
            <a:ext cx="289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1A1C"/>
                </a:solidFill>
              </a:defRPr>
            </a:pPr>
            <a:r>
              <a:rPr sz="1050" b="1">
                <a:solidFill>
                  <a:srgbClr val="201A1C"/>
                </a:solidFill>
              </a:rPr>
              <a:t>Claim updates are simulated so evaluators can walk through the full lifecycle without backend integrations.</a:t>
            </a:r>
          </a:p>
        </p:txBody>
      </p:sp>
    </p:spTree>
    <p:extLst>
      <p:ext uri="{BB962C8B-B14F-4D97-AF65-F5344CB8AC3E}">
        <p14:creationId xmlns:p14="http://schemas.microsoft.com/office/powerpoint/2010/main" val="33675328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156E355-68D6-4D8A-9040-C7F08C238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D2F"/>
          </a:solidFill>
          <a:ln xmlns:a="http://schemas.openxmlformats.org/drawingml/2006/main" w="0">
            <a:solidFill>
              <a:srgbClr val="9F1D2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0ECCFA-9738-4F5C-8482-30DAD7454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F1D2F"/>
                </a:solidFill>
              </a:defRPr>
            </a:pPr>
            <a:r>
              <a:rPr sz="1125" b="1">
                <a:solidFill>
                  <a:srgbClr val="9F1D2F"/>
                </a:solidFill>
              </a:rPr>
              <a:t>INDIE  PROTECT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38F740-2C25-4961-8A7B-B9CCE1244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57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164"/>
                </a:solidFill>
              </a:defRPr>
            </a:pPr>
            <a:r>
              <a:rPr sz="975" b="1">
                <a:solidFill>
                  <a:srgbClr val="686164"/>
                </a:solidFill>
              </a:rPr>
              <a:t>EXECUTION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39695B-9044-465E-888F-4476460F4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1A1C"/>
                </a:solidFill>
              </a:defRPr>
            </a:pPr>
            <a:r>
              <a:rPr sz="2700" b="1">
                <a:solidFill>
                  <a:srgbClr val="201A1C"/>
                </a:solidFill>
              </a:rPr>
              <a:t>The MVP prioritises trust-building actions over feature breadth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3C524A-1C5D-4873-B3B9-134082ACC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6164"/>
                </a:solidFill>
              </a:defRPr>
            </a:pPr>
            <a:r>
              <a:rPr sz="1275" b="0">
                <a:solidFill>
                  <a:srgbClr val="686164"/>
                </a:solidFill>
              </a:rPr>
              <a:t>Illustrative RICE scoring favours features that improve lifecycle completion with manageable integration effort.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BA9F41-6E20-4D3F-9ABA-AD9CA105F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164"/>
                </a:solidFill>
              </a:defRPr>
            </a:pPr>
            <a:r>
              <a:rPr sz="975" b="1">
                <a:solidFill>
                  <a:srgbClr val="686164"/>
                </a:solidFill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89EFB0-31C2-47CD-8FB5-0D727339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3429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02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17881A-8D91-400B-953E-284DD48E5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3276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B8D325-027B-4275-B521-0A3F0BDC5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847850"/>
            <a:ext cx="952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D2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00FC7F-720A-4945-AF3A-6025DF9DC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00025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REACH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2CCFDB-54B9-4545-92B6-08D6DD717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47850"/>
            <a:ext cx="1047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D2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3419FE-5D4F-4F68-A5C1-AD033A215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000250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IMPACT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5C5972-AD33-427C-ADCB-28E074E3E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847850"/>
            <a:ext cx="1047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D2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ACB1D3-91E4-489A-8C08-E158B3581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00250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CONF.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BE2543-9E53-44F7-9DA5-E3E0F84C8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847850"/>
            <a:ext cx="952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D2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981EC9-B9FA-436D-95D9-1EB11BFD4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00025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EFFORT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147817-7C40-4C40-8BB4-5FCF7D1A4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47850"/>
            <a:ext cx="1143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D2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6496D2-2C2A-49A7-A5D2-E1C2DE6AF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00250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RICE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E75905-5F1E-4B66-9915-3FBEED8D0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342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EFB258-0CFA-495C-8AD0-E2BF44A37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955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1A1C"/>
                </a:solidFill>
              </a:defRPr>
            </a:pPr>
            <a:r>
              <a:rPr sz="1125" b="1">
                <a:solidFill>
                  <a:srgbClr val="201A1C"/>
                </a:solidFill>
              </a:rPr>
              <a:t>Unified policy vault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8E77BD-156C-4DA6-A436-5FAC7A424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324100"/>
            <a:ext cx="95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280311-E8F9-48DF-BD8C-2BF30573F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4955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01A1C"/>
                </a:solidFill>
              </a:defRPr>
            </a:pPr>
            <a:r>
              <a:rPr sz="1050" b="0">
                <a:solidFill>
                  <a:srgbClr val="201A1C"/>
                </a:solidFill>
              </a:rPr>
              <a:t>9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FAFB78-D64F-47E6-BA8A-021C6D44F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32410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E12025-25E0-47F1-9D88-99B48E217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955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01A1C"/>
                </a:solidFill>
              </a:defRPr>
            </a:pPr>
            <a:r>
              <a:rPr sz="1050" b="0">
                <a:solidFill>
                  <a:srgbClr val="201A1C"/>
                </a:solidFill>
              </a:rPr>
              <a:t>3.0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D689FD-AC30-4D3E-9760-B18AE752B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32410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10E368-D286-459E-AC08-08C2622D9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955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01A1C"/>
                </a:solidFill>
              </a:defRPr>
            </a:pPr>
            <a:r>
              <a:rPr sz="1050" b="0">
                <a:solidFill>
                  <a:srgbClr val="201A1C"/>
                </a:solidFill>
              </a:rPr>
              <a:t>85%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1B5581-7B79-4858-BD85-1BBEFC4D9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324100"/>
            <a:ext cx="95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D9E4A6-32C6-45ED-A6F7-03A5F5476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4955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01A1C"/>
                </a:solidFill>
              </a:defRPr>
            </a:pPr>
            <a:r>
              <a:rPr sz="1050" b="0">
                <a:solidFill>
                  <a:srgbClr val="201A1C"/>
                </a:solidFill>
              </a:rPr>
              <a:t>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53B9D8-AAC8-4EAA-AEA6-58123E595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24100"/>
            <a:ext cx="114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A8FF99-45FC-4FE5-B50E-8D4B35F37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955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7968"/>
                </a:solidFill>
              </a:defRPr>
            </a:pPr>
            <a:r>
              <a:rPr sz="1050" b="1">
                <a:solidFill>
                  <a:srgbClr val="167968"/>
                </a:solidFill>
              </a:rPr>
              <a:t>11.5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BE84C92-2455-4613-B3ED-E8D70F896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66975"/>
            <a:ext cx="7810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8E9EC"/>
          </a:solidFill>
          <a:ln xmlns:a="http://schemas.openxmlformats.org/drawingml/2006/main" w="0">
            <a:solidFill>
              <a:srgbClr val="F8E9E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08234D-79B6-45F4-9465-E156FED5E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51460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9F1D2F"/>
                </a:solidFill>
              </a:defRPr>
            </a:pPr>
            <a:r>
              <a:rPr sz="975" b="1">
                <a:solidFill>
                  <a:srgbClr val="9F1D2F"/>
                </a:solidFill>
              </a:rPr>
              <a:t>MUST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3467A2-4533-4644-9682-71E6FA38B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342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A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1334B1B-66AA-4334-BD3E-B1D72D187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1A1C"/>
                </a:solidFill>
              </a:defRPr>
            </a:pPr>
            <a:r>
              <a:rPr sz="1125" b="1">
                <a:solidFill>
                  <a:srgbClr val="201A1C"/>
                </a:solidFill>
              </a:rPr>
              <a:t>Guided motor claims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C59748F-8870-4E1F-B761-56CB76C48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876550"/>
            <a:ext cx="95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A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355000B-5493-465E-8AEF-DDF3356B1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0480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01A1C"/>
                </a:solidFill>
              </a:defRPr>
            </a:pPr>
            <a:r>
              <a:rPr sz="1050" b="0">
                <a:solidFill>
                  <a:srgbClr val="201A1C"/>
                </a:solidFill>
              </a:rPr>
              <a:t>8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636FEA4-FA42-4C35-9D0C-BD25B2DC8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87655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A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A5ABD8F-DE29-4224-9D8D-BA501DA86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0480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01A1C"/>
                </a:solidFill>
              </a:defRPr>
            </a:pPr>
            <a:r>
              <a:rPr sz="1050" b="0">
                <a:solidFill>
                  <a:srgbClr val="201A1C"/>
                </a:solidFill>
              </a:rPr>
              <a:t>3.0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BFA34A9-9756-44BB-847B-3275A638C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7655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A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2895FDF-97F4-445E-A5EE-471B4431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0480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01A1C"/>
                </a:solidFill>
              </a:defRPr>
            </a:pPr>
            <a:r>
              <a:rPr sz="1050" b="0">
                <a:solidFill>
                  <a:srgbClr val="201A1C"/>
                </a:solidFill>
              </a:rPr>
              <a:t>90%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6ABA3E5-B1CD-45A2-9602-DF457B7D5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876550"/>
            <a:ext cx="95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A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2DE3E31-3F6E-491F-98BC-D8F709768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01A1C"/>
                </a:solidFill>
              </a:defRPr>
            </a:pPr>
            <a:r>
              <a:rPr sz="1050" b="0">
                <a:solidFill>
                  <a:srgbClr val="201A1C"/>
                </a:solidFill>
              </a:rPr>
              <a:t>2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0EA65EA-BEC6-49B1-A553-682041F37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76550"/>
            <a:ext cx="114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A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DF99161-6773-4FAD-A32B-6742D94D7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480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7968"/>
                </a:solidFill>
              </a:defRPr>
            </a:pPr>
            <a:r>
              <a:rPr sz="1050" b="1">
                <a:solidFill>
                  <a:srgbClr val="167968"/>
                </a:solidFill>
              </a:rPr>
              <a:t>10.8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9CFC860-33E8-4566-B7BD-27F85D13F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19425"/>
            <a:ext cx="7810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8E9EC"/>
          </a:solidFill>
          <a:ln xmlns:a="http://schemas.openxmlformats.org/drawingml/2006/main" w="0">
            <a:solidFill>
              <a:srgbClr val="F8E9EC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9CF12E5-D76B-4F81-887A-56E79D7B6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06705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9F1D2F"/>
                </a:solidFill>
              </a:defRPr>
            </a:pPr>
            <a:r>
              <a:rPr sz="975" b="1">
                <a:solidFill>
                  <a:srgbClr val="9F1D2F"/>
                </a:solidFill>
              </a:rPr>
              <a:t>MUST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2497E4F-049F-4652-B62E-6FCDD725C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342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F2E9EF6-3EFC-435D-A95C-DE9F8B32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004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1A1C"/>
                </a:solidFill>
              </a:defRPr>
            </a:pPr>
            <a:r>
              <a:rPr sz="1125" b="1">
                <a:solidFill>
                  <a:srgbClr val="201A1C"/>
                </a:solidFill>
              </a:rPr>
              <a:t>Renewal nudges + autopay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587E87D-E784-41CB-AC06-372E03B77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429000"/>
            <a:ext cx="95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73A2532-C107-497B-AE08-5951B07AF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6004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01A1C"/>
                </a:solidFill>
              </a:defRPr>
            </a:pPr>
            <a:r>
              <a:rPr sz="1050" b="0">
                <a:solidFill>
                  <a:srgbClr val="201A1C"/>
                </a:solidFill>
              </a:rPr>
              <a:t>9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45F14C1-8E3C-4A79-88FB-15EA52D9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42900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3F5670F-82CB-4F36-90D9-45DEF9B98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6004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01A1C"/>
                </a:solidFill>
              </a:defRPr>
            </a:pPr>
            <a:r>
              <a:rPr sz="1050" b="0">
                <a:solidFill>
                  <a:srgbClr val="201A1C"/>
                </a:solidFill>
              </a:rPr>
              <a:t>2.0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8FD2168-317B-4B5C-9989-F8D0E53F8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42900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8B85194-4BCD-4B19-8F9F-CA085B1D1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6004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01A1C"/>
                </a:solidFill>
              </a:defRPr>
            </a:pPr>
            <a:r>
              <a:rPr sz="1050" b="0">
                <a:solidFill>
                  <a:srgbClr val="201A1C"/>
                </a:solidFill>
              </a:rPr>
              <a:t>90%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33F464B-792B-4E24-A0FC-FE3ED40D5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429000"/>
            <a:ext cx="95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6D3577C-1CBE-4F48-9AAE-5BADABB1A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6004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01A1C"/>
                </a:solidFill>
              </a:defRPr>
            </a:pPr>
            <a:r>
              <a:rPr sz="1050" b="0">
                <a:solidFill>
                  <a:srgbClr val="201A1C"/>
                </a:solidFill>
              </a:rPr>
              <a:t>2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6260992-F67D-4159-B630-7E62B918C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29000"/>
            <a:ext cx="114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4C64BDF-8669-44F0-AB04-21C33AAB8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004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7968"/>
                </a:solidFill>
              </a:defRPr>
            </a:pPr>
            <a:r>
              <a:rPr sz="1050" b="1">
                <a:solidFill>
                  <a:srgbClr val="167968"/>
                </a:solidFill>
              </a:rPr>
              <a:t>8.1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1BB5C4E-8BC7-4CFA-BD2D-64CC4769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571875"/>
            <a:ext cx="7810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8E9EC"/>
          </a:solidFill>
          <a:ln xmlns:a="http://schemas.openxmlformats.org/drawingml/2006/main" w="0">
            <a:solidFill>
              <a:srgbClr val="F8E9EC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4A59276-4A66-4E4D-A992-A4F64DAD3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61950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9F1D2F"/>
                </a:solidFill>
              </a:defRPr>
            </a:pPr>
            <a:r>
              <a:rPr sz="975" b="1">
                <a:solidFill>
                  <a:srgbClr val="9F1D2F"/>
                </a:solidFill>
              </a:rPr>
              <a:t>MUST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E8336D6-5204-403C-BB2C-F4DE89538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342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A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16381E0-3AC1-425A-AA38-BDCCC5D7E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529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1A1C"/>
                </a:solidFill>
              </a:defRPr>
            </a:pPr>
            <a:r>
              <a:rPr sz="1125" b="1">
                <a:solidFill>
                  <a:srgbClr val="201A1C"/>
                </a:solidFill>
              </a:rPr>
              <a:t>Transparent comparison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C08B584-7996-4640-8990-175FB5667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981450"/>
            <a:ext cx="95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A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5B0563D-30D1-44CB-92C5-0DA26D63E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1529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01A1C"/>
                </a:solidFill>
              </a:defRPr>
            </a:pPr>
            <a:r>
              <a:rPr sz="1050" b="0">
                <a:solidFill>
                  <a:srgbClr val="201A1C"/>
                </a:solidFill>
              </a:rPr>
              <a:t>8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5BA2E8D-1AB3-406D-8B95-E0E3AE58E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98145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A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89E7D21-9B80-46D0-9CD1-85623F952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1529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01A1C"/>
                </a:solidFill>
              </a:defRPr>
            </a:pPr>
            <a:r>
              <a:rPr sz="1050" b="0">
                <a:solidFill>
                  <a:srgbClr val="201A1C"/>
                </a:solidFill>
              </a:rPr>
              <a:t>2.0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9B1529B-F003-4735-8D68-349CE2183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8145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A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3A8A392-7DE0-4EB8-A34F-B0DCD0DDE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1529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01A1C"/>
                </a:solidFill>
              </a:defRPr>
            </a:pPr>
            <a:r>
              <a:rPr sz="1050" b="0">
                <a:solidFill>
                  <a:srgbClr val="201A1C"/>
                </a:solidFill>
              </a:rPr>
              <a:t>85%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8A2AB0B-4638-4E8F-8DE2-55DD669EB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981450"/>
            <a:ext cx="95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A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95568C4-6510-4B55-BE1E-A866AF182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1529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01A1C"/>
                </a:solidFill>
              </a:defRPr>
            </a:pPr>
            <a:r>
              <a:rPr sz="1050" b="0">
                <a:solidFill>
                  <a:srgbClr val="201A1C"/>
                </a:solidFill>
              </a:rPr>
              <a:t>2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4A7812F-9246-4B76-9521-12C6646F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81450"/>
            <a:ext cx="114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A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26897F7-12F3-4A58-A905-A7A34D757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1529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7968"/>
                </a:solidFill>
              </a:defRPr>
            </a:pPr>
            <a:r>
              <a:rPr sz="1050" b="1">
                <a:solidFill>
                  <a:srgbClr val="167968"/>
                </a:solidFill>
              </a:rPr>
              <a:t>6.8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0A7AE7F-B9B6-4C1A-9E60-ADBF6365F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124325"/>
            <a:ext cx="7810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8E9EC"/>
          </a:solidFill>
          <a:ln xmlns:a="http://schemas.openxmlformats.org/drawingml/2006/main" w="0">
            <a:solidFill>
              <a:srgbClr val="F8E9EC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812C111-CE0A-41DE-9488-132C5C200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17195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9F1D2F"/>
                </a:solidFill>
              </a:defRPr>
            </a:pPr>
            <a:r>
              <a:rPr sz="975" b="1">
                <a:solidFill>
                  <a:srgbClr val="9F1D2F"/>
                </a:solidFill>
              </a:rPr>
              <a:t>MUST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BB6A225-D1A5-4F90-A74D-48C08A18A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342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8F499BA-B46F-4A07-950B-414413ADC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053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1A1C"/>
                </a:solidFill>
              </a:defRPr>
            </a:pPr>
            <a:r>
              <a:rPr sz="1125" b="1">
                <a:solidFill>
                  <a:srgbClr val="201A1C"/>
                </a:solidFill>
              </a:rPr>
              <a:t>Protection score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5D95860-AD04-4FDF-A192-FC4EB8070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533900"/>
            <a:ext cx="95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46CF6BB-6B25-4BC9-A578-6B6BEC603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7053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01A1C"/>
                </a:solidFill>
              </a:defRPr>
            </a:pPr>
            <a:r>
              <a:rPr sz="1050" b="0">
                <a:solidFill>
                  <a:srgbClr val="201A1C"/>
                </a:solidFill>
              </a:rPr>
              <a:t>7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51D4F2D-99CC-473A-9F58-465689399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53390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825BDA2-32E0-41C1-B01C-FF81AFD21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7053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01A1C"/>
                </a:solidFill>
              </a:defRPr>
            </a:pPr>
            <a:r>
              <a:rPr sz="1050" b="0">
                <a:solidFill>
                  <a:srgbClr val="201A1C"/>
                </a:solidFill>
              </a:rPr>
              <a:t>2.0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238FC03-E120-4AB4-A513-21AA02153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53390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C60BCCB-C973-4E45-83BC-C7ABC1ADD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7053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01A1C"/>
                </a:solidFill>
              </a:defRPr>
            </a:pPr>
            <a:r>
              <a:rPr sz="1050" b="0">
                <a:solidFill>
                  <a:srgbClr val="201A1C"/>
                </a:solidFill>
              </a:rPr>
              <a:t>70%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C6F6340-4537-403D-9A4E-A5FAD1041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533900"/>
            <a:ext cx="95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DFF45C7-5254-4C63-85CF-B66FEFCEA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7053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01A1C"/>
                </a:solidFill>
              </a:defRPr>
            </a:pPr>
            <a:r>
              <a:rPr sz="1050" b="0">
                <a:solidFill>
                  <a:srgbClr val="201A1C"/>
                </a:solidFill>
              </a:rPr>
              <a:t>2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D3362CB-E36E-4B4D-A5AC-DC9E4E5DE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33900"/>
            <a:ext cx="114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08F5795-6719-448C-B1EF-88B902D86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7053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7968"/>
                </a:solidFill>
              </a:defRPr>
            </a:pPr>
            <a:r>
              <a:rPr sz="1050" b="1">
                <a:solidFill>
                  <a:srgbClr val="167968"/>
                </a:solidFill>
              </a:rPr>
              <a:t>4.9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49DBF7A2-D609-461F-A9D0-49820F8B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676775"/>
            <a:ext cx="7810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9F2F8"/>
          </a:solidFill>
          <a:ln xmlns:a="http://schemas.openxmlformats.org/drawingml/2006/main" w="0">
            <a:solidFill>
              <a:srgbClr val="E9F2F8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DDC5B0C-42E3-41BE-83FC-2AEC03B41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72440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D658E"/>
                </a:solidFill>
              </a:defRPr>
            </a:pPr>
            <a:r>
              <a:rPr sz="975" b="1">
                <a:solidFill>
                  <a:srgbClr val="2D658E"/>
                </a:solidFill>
              </a:rPr>
              <a:t>SHOULD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A75A2805-D314-48CD-9232-3D031816D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6350"/>
            <a:ext cx="342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A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24A32E3-641E-4F48-A32B-6030D59D3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578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1A1C"/>
                </a:solidFill>
              </a:defRPr>
            </a:pPr>
            <a:r>
              <a:rPr sz="1125" b="1">
                <a:solidFill>
                  <a:srgbClr val="201A1C"/>
                </a:solidFill>
              </a:rPr>
              <a:t>Protect AI explanations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1FAA54F-2491-4A4A-A3FF-CC6DFDC0C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086350"/>
            <a:ext cx="95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A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312A4C83-B131-4BA4-A269-A837EF7B8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2578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01A1C"/>
                </a:solidFill>
              </a:defRPr>
            </a:pPr>
            <a:r>
              <a:rPr sz="1050" b="0">
                <a:solidFill>
                  <a:srgbClr val="201A1C"/>
                </a:solidFill>
              </a:rPr>
              <a:t>6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7103DBA-1301-455B-9971-CEE3D49CA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08635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A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8F74C380-BC1C-41CC-B1FA-E1B349CB9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2578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01A1C"/>
                </a:solidFill>
              </a:defRPr>
            </a:pPr>
            <a:r>
              <a:rPr sz="1050" b="0">
                <a:solidFill>
                  <a:srgbClr val="201A1C"/>
                </a:solidFill>
              </a:rPr>
              <a:t>2.0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D2E2AAE-F69E-43E8-9068-FB9B4778B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08635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A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28B5453-99F2-4B5D-94B2-0B483B993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2578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01A1C"/>
                </a:solidFill>
              </a:defRPr>
            </a:pPr>
            <a:r>
              <a:rPr sz="1050" b="0">
                <a:solidFill>
                  <a:srgbClr val="201A1C"/>
                </a:solidFill>
              </a:rPr>
              <a:t>65%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EA3CE19E-8D0F-465D-9C19-534F69096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086350"/>
            <a:ext cx="95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A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560FDC9B-E2DC-473C-BF38-33AC03698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2578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01A1C"/>
                </a:solidFill>
              </a:defRPr>
            </a:pPr>
            <a:r>
              <a:rPr sz="1050" b="0">
                <a:solidFill>
                  <a:srgbClr val="201A1C"/>
                </a:solidFill>
              </a:rPr>
              <a:t>3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B3A91875-E10C-48AA-9BCC-B5648E191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086350"/>
            <a:ext cx="114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A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D73045C-8AC3-47E4-9CA5-096166E6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2578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7968"/>
                </a:solidFill>
              </a:defRPr>
            </a:pPr>
            <a:r>
              <a:rPr sz="1050" b="1">
                <a:solidFill>
                  <a:srgbClr val="167968"/>
                </a:solidFill>
              </a:rPr>
              <a:t>2.6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05CF0537-49DE-4001-992E-47D01335C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229225"/>
            <a:ext cx="7810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9F2F8"/>
          </a:solidFill>
          <a:ln xmlns:a="http://schemas.openxmlformats.org/drawingml/2006/main" w="0">
            <a:solidFill>
              <a:srgbClr val="E9F2F8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CEC0418-43B0-4DAB-BDB6-631D0D794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27685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D658E"/>
                </a:solidFill>
              </a:defRPr>
            </a:pPr>
            <a:r>
              <a:rPr sz="975" b="1">
                <a:solidFill>
                  <a:srgbClr val="2D658E"/>
                </a:solidFill>
              </a:rPr>
              <a:t>SHOULD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DC1C4DBA-CCF5-4A99-860F-7EA6D0A31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5D7"/>
          </a:solidFill>
          <a:ln xmlns:a="http://schemas.openxmlformats.org/drawingml/2006/main" w="0">
            <a:solidFill>
              <a:srgbClr val="FFF5D7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14F6771-AA4D-47E5-8639-72ADB3CD2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65300"/>
                </a:solidFill>
              </a:defRPr>
            </a:pPr>
            <a:r>
              <a:rPr sz="975" b="1">
                <a:solidFill>
                  <a:srgbClr val="765300"/>
                </a:solidFill>
              </a:rPr>
              <a:t>OUT OF MVP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8B3932A-94C7-417B-904E-942516CDB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8674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1A1C"/>
                </a:solidFill>
              </a:defRPr>
            </a:pPr>
            <a:r>
              <a:rPr sz="1050" b="1">
                <a:solidFill>
                  <a:srgbClr val="201A1C"/>
                </a:solidFill>
              </a:rPr>
              <a:t>Real-time telematics, automated fraud decisions, pet/rental cover, and fully autonomous claim adjudication.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7FDD1E77-5E83-4EEF-BFAE-9C535B942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A7376"/>
                </a:solidFill>
              </a:defRPr>
            </a:pPr>
            <a:r>
              <a:rPr sz="900" b="0">
                <a:solidFill>
                  <a:srgbClr val="7A7376"/>
                </a:solidFill>
              </a:rPr>
              <a:t>RICE inputs are product assumptions: Reach (1-10), Impact (0.5-3), Confidence, Effort (person-month index).</a:t>
            </a:r>
          </a:p>
        </p:txBody>
      </p:sp>
    </p:spTree>
    <p:extLst>
      <p:ext uri="{BB962C8B-B14F-4D97-AF65-F5344CB8AC3E}">
        <p14:creationId xmlns:p14="http://schemas.microsoft.com/office/powerpoint/2010/main" val="22966170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A95CA46-E85F-4311-B9AA-CBCF6DF13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D2F"/>
          </a:solidFill>
          <a:ln xmlns:a="http://schemas.openxmlformats.org/drawingml/2006/main" w="0">
            <a:solidFill>
              <a:srgbClr val="9F1D2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8E44BF-4FFC-4A53-A74F-9562170A0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F1D2F"/>
                </a:solidFill>
              </a:defRPr>
            </a:pPr>
            <a:r>
              <a:rPr sz="1125" b="1">
                <a:solidFill>
                  <a:srgbClr val="9F1D2F"/>
                </a:solidFill>
              </a:rPr>
              <a:t>INDIE  PROTECT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D9EA67-751A-4B19-921D-759BA9E74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57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164"/>
                </a:solidFill>
              </a:defRPr>
            </a:pPr>
            <a:r>
              <a:rPr sz="975" b="1">
                <a:solidFill>
                  <a:srgbClr val="686164"/>
                </a:solidFill>
              </a:rPr>
              <a:t>METRICS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E191B3-E462-4B85-9228-896360C30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1A1C"/>
                </a:solidFill>
              </a:defRPr>
            </a:pPr>
            <a:r>
              <a:rPr sz="2700" b="1">
                <a:solidFill>
                  <a:srgbClr val="201A1C"/>
                </a:solidFill>
              </a:rPr>
              <a:t>Protected actions are the leading indicator of long-term value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C6C50A-A31D-44AD-8AF9-B8D9106BE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6164"/>
                </a:solidFill>
              </a:defRPr>
            </a:pPr>
            <a:r>
              <a:rPr sz="1275" b="0">
                <a:solidFill>
                  <a:srgbClr val="686164"/>
                </a:solidFill>
              </a:rPr>
              <a:t>The north star rewards useful lifecycle behaviour, while trust and loss-related guardrails prevent growth at the customer’s expense.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7670E0-4BAA-4CF9-9084-33E0008F2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164"/>
                </a:solidFill>
              </a:defRPr>
            </a:pPr>
            <a:r>
              <a:rPr sz="975" b="1">
                <a:solidFill>
                  <a:srgbClr val="686164"/>
                </a:solidFill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37245A-CCF8-46E2-BDAB-9D8450306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2B2024"/>
          </a:solidFill>
          <a:ln xmlns:a="http://schemas.openxmlformats.org/drawingml/2006/main" w="0">
            <a:solidFill>
              <a:srgbClr val="2B202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01D0AA-A5EF-4CD4-AA4E-57E481C16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193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0BBC4"/>
                </a:solidFill>
              </a:defRPr>
            </a:pPr>
            <a:r>
              <a:rPr sz="975" b="1">
                <a:solidFill>
                  <a:srgbClr val="F0BBC4"/>
                </a:solidFill>
              </a:rPr>
              <a:t>NORTH STAR METRIC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B3B167-33D0-4513-8692-BCDB6FE92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050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Monthly Protected Actions per Active Insured Customer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F8A797-85FF-4F49-A43F-E817EF2F5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114550"/>
            <a:ext cx="2971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DD3D6"/>
                </a:solidFill>
              </a:defRPr>
            </a:pPr>
            <a:r>
              <a:rPr sz="1050" b="0">
                <a:solidFill>
                  <a:srgbClr val="DDD3D6"/>
                </a:solidFill>
              </a:rPr>
              <a:t>Examples: gap review, policy import, purchase, renewal, claim step, or assistance request.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452712-33CA-427E-B84B-419B47048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2571750" cy="24574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0C90F6-1C70-454F-BD82-1FE7284B2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71850"/>
            <a:ext cx="10668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8E9EC"/>
          </a:solidFill>
          <a:ln xmlns:a="http://schemas.openxmlformats.org/drawingml/2006/main" w="0">
            <a:solidFill>
              <a:srgbClr val="F8E9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A1759B-401E-454C-BF62-940A061EE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9F1D2F"/>
                </a:solidFill>
              </a:defRPr>
            </a:pPr>
            <a:r>
              <a:rPr sz="975" b="1">
                <a:solidFill>
                  <a:srgbClr val="9F1D2F"/>
                </a:solidFill>
              </a:rPr>
              <a:t>ADOPTION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B31C5E-D9D9-4EE1-B5AD-0AB6BB1D8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86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1D2F"/>
          </a:solidFill>
          <a:ln xmlns:a="http://schemas.openxmlformats.org/drawingml/2006/main" w="0">
            <a:solidFill>
              <a:srgbClr val="9F1D2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757EDB-9619-4579-922F-5BD74DC1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10000"/>
            <a:ext cx="1943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1A1C"/>
                </a:solidFill>
              </a:defRPr>
            </a:pPr>
            <a:r>
              <a:rPr sz="1125" b="0">
                <a:solidFill>
                  <a:srgbClr val="201A1C"/>
                </a:solidFill>
              </a:rPr>
              <a:t>Quote-to-purchase conversion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5A24AC-F06F-45AB-8E81-04F8FC949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005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1D2F"/>
          </a:solidFill>
          <a:ln xmlns:a="http://schemas.openxmlformats.org/drawingml/2006/main" w="0">
            <a:solidFill>
              <a:srgbClr val="9F1D2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03D707-1391-4B04-A648-76FE7808F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24350"/>
            <a:ext cx="1943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1A1C"/>
                </a:solidFill>
              </a:defRPr>
            </a:pPr>
            <a:r>
              <a:rPr sz="1125" b="1">
                <a:solidFill>
                  <a:srgbClr val="201A1C"/>
                </a:solidFill>
              </a:rPr>
              <a:t>Policies imported per user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4D0DE5-8F79-4347-BE74-1EDCD2734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14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1D2F"/>
          </a:solidFill>
          <a:ln xmlns:a="http://schemas.openxmlformats.org/drawingml/2006/main" w="0">
            <a:solidFill>
              <a:srgbClr val="9F1D2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5975F0-18EC-422B-A4F5-8654E377E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38700"/>
            <a:ext cx="1943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1A1C"/>
                </a:solidFill>
              </a:defRPr>
            </a:pPr>
            <a:r>
              <a:rPr sz="1125" b="0">
                <a:solidFill>
                  <a:srgbClr val="201A1C"/>
                </a:solidFill>
              </a:rPr>
              <a:t>New insured customers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76BD8E-9171-4EDB-9B66-7C5238E6A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181350"/>
            <a:ext cx="2571750" cy="24574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8F7A3E-266B-4EC1-BE15-EC9C99E4E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71850"/>
            <a:ext cx="10668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9F2F8"/>
          </a:solidFill>
          <a:ln xmlns:a="http://schemas.openxmlformats.org/drawingml/2006/main" w="0">
            <a:solidFill>
              <a:srgbClr val="E9F2F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157827-098D-421B-B7ED-24C374CC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419475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D658E"/>
                </a:solidFill>
              </a:defRPr>
            </a:pPr>
            <a:r>
              <a:rPr sz="975" b="1">
                <a:solidFill>
                  <a:srgbClr val="2D658E"/>
                </a:solidFill>
              </a:rPr>
              <a:t>LIFECYCLE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561E88-A6FC-4B36-951B-2C0404E6E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86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58E"/>
          </a:solidFill>
          <a:ln xmlns:a="http://schemas.openxmlformats.org/drawingml/2006/main" w="0">
            <a:solidFill>
              <a:srgbClr val="2D658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42FB0E-F7CE-48A9-8ACB-B5D279C00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810000"/>
            <a:ext cx="1943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1A1C"/>
                </a:solidFill>
              </a:defRPr>
            </a:pPr>
            <a:r>
              <a:rPr sz="1125" b="0">
                <a:solidFill>
                  <a:srgbClr val="201A1C"/>
                </a:solidFill>
              </a:rPr>
              <a:t>Renewal completion rate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8B71FF-75B9-4D8E-8EF9-E240646A8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4005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58E"/>
          </a:solidFill>
          <a:ln xmlns:a="http://schemas.openxmlformats.org/drawingml/2006/main" w="0">
            <a:solidFill>
              <a:srgbClr val="2D658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44435C-F246-4027-BF78-CFACF8F6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324350"/>
            <a:ext cx="1943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1A1C"/>
                </a:solidFill>
              </a:defRPr>
            </a:pPr>
            <a:r>
              <a:rPr sz="1125" b="1">
                <a:solidFill>
                  <a:srgbClr val="201A1C"/>
                </a:solidFill>
              </a:rPr>
              <a:t>Claim step completion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411CA9-A985-4A0E-BE1A-F56067EE9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914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58E"/>
          </a:solidFill>
          <a:ln xmlns:a="http://schemas.openxmlformats.org/drawingml/2006/main" w="0">
            <a:solidFill>
              <a:srgbClr val="2D658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263C7F-C3FD-4870-AA65-64FA73388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838700"/>
            <a:ext cx="1943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1A1C"/>
                </a:solidFill>
              </a:defRPr>
            </a:pPr>
            <a:r>
              <a:rPr sz="1125" b="0">
                <a:solidFill>
                  <a:srgbClr val="201A1C"/>
                </a:solidFill>
              </a:rPr>
              <a:t>Monthly protected actions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45BB0A-079C-463D-A588-90827F3FB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81350"/>
            <a:ext cx="2571750" cy="24574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5EB091-EBDF-4888-8ABB-3C9A71367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71850"/>
            <a:ext cx="10668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8F5F1"/>
          </a:solidFill>
          <a:ln xmlns:a="http://schemas.openxmlformats.org/drawingml/2006/main" w="0">
            <a:solidFill>
              <a:srgbClr val="E8F5F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293DBBC-1885-45E2-83FC-677FF9023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19475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7968"/>
                </a:solidFill>
              </a:defRPr>
            </a:pPr>
            <a:r>
              <a:rPr sz="975" b="1">
                <a:solidFill>
                  <a:srgbClr val="167968"/>
                </a:solidFill>
              </a:rPr>
              <a:t>TRUST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A856BF-CD99-47AE-A23E-F0E44EF81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86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968"/>
          </a:solidFill>
          <a:ln xmlns:a="http://schemas.openxmlformats.org/drawingml/2006/main" w="0">
            <a:solidFill>
              <a:srgbClr val="16796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40E8B2-DE94-45BE-A50B-4D2DC89E5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810000"/>
            <a:ext cx="1943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1A1C"/>
                </a:solidFill>
              </a:defRPr>
            </a:pPr>
            <a:r>
              <a:rPr sz="1125" b="0">
                <a:solidFill>
                  <a:srgbClr val="201A1C"/>
                </a:solidFill>
              </a:rPr>
              <a:t>Coverage comprehension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305950F-BCB8-4849-8F8F-7615B5E45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005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968"/>
          </a:solidFill>
          <a:ln xmlns:a="http://schemas.openxmlformats.org/drawingml/2006/main" w="0">
            <a:solidFill>
              <a:srgbClr val="16796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9D0D3F2-739A-42DE-96B9-944796506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324350"/>
            <a:ext cx="1943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1A1C"/>
                </a:solidFill>
              </a:defRPr>
            </a:pPr>
            <a:r>
              <a:rPr sz="1125" b="1">
                <a:solidFill>
                  <a:srgbClr val="201A1C"/>
                </a:solidFill>
              </a:rPr>
              <a:t>Claim CSAT / NPS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135E534-5837-4BB2-83C9-5206FA8FC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914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968"/>
          </a:solidFill>
          <a:ln xmlns:a="http://schemas.openxmlformats.org/drawingml/2006/main" w="0">
            <a:solidFill>
              <a:srgbClr val="16796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D1BF3CA-33F5-4F2E-8727-91AF9576B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838700"/>
            <a:ext cx="1943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1A1C"/>
                </a:solidFill>
              </a:defRPr>
            </a:pPr>
            <a:r>
              <a:rPr sz="1125" b="0">
                <a:solidFill>
                  <a:srgbClr val="201A1C"/>
                </a:solidFill>
              </a:rPr>
              <a:t>Support repeat-contact rate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CB1B6FE-5311-4346-A432-DF3F5625C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181350"/>
            <a:ext cx="2571750" cy="24574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BF42D0F-BC21-4DF9-B30F-D6C90588C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371850"/>
            <a:ext cx="10668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5D7"/>
          </a:solidFill>
          <a:ln xmlns:a="http://schemas.openxmlformats.org/drawingml/2006/main" w="0">
            <a:solidFill>
              <a:srgbClr val="FFF5D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FC7481E-9817-4CA4-B93D-AD7115B04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419475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65300"/>
                </a:solidFill>
              </a:defRPr>
            </a:pPr>
            <a:r>
              <a:rPr sz="975" b="1">
                <a:solidFill>
                  <a:srgbClr val="765300"/>
                </a:solidFill>
              </a:rPr>
              <a:t>GUARDRAILS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BBDC91E-3207-44CB-82F9-3A4F2177F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886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5300"/>
          </a:solidFill>
          <a:ln xmlns:a="http://schemas.openxmlformats.org/drawingml/2006/main" w="0">
            <a:solidFill>
              <a:srgbClr val="76530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974698F-F1AF-4B59-A717-95FC7341B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10000"/>
            <a:ext cx="1943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1A1C"/>
                </a:solidFill>
              </a:defRPr>
            </a:pPr>
            <a:r>
              <a:rPr sz="1125" b="0">
                <a:solidFill>
                  <a:srgbClr val="201A1C"/>
                </a:solidFill>
              </a:rPr>
              <a:t>Complaint rate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882E9B7-7B05-421B-8851-E7C16A45F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4005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5300"/>
          </a:solidFill>
          <a:ln xmlns:a="http://schemas.openxmlformats.org/drawingml/2006/main" w="0">
            <a:solidFill>
              <a:srgbClr val="76530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05ACB69-98B5-4639-9FAD-FE4160A99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324350"/>
            <a:ext cx="1943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1A1C"/>
                </a:solidFill>
              </a:defRPr>
            </a:pPr>
            <a:r>
              <a:rPr sz="1125" b="1">
                <a:solidFill>
                  <a:srgbClr val="201A1C"/>
                </a:solidFill>
              </a:rPr>
              <a:t>Consent opt-out rate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152C666-31BB-4F2E-A29A-908F05189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914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5300"/>
          </a:solidFill>
          <a:ln xmlns:a="http://schemas.openxmlformats.org/drawingml/2006/main" w="0">
            <a:solidFill>
              <a:srgbClr val="76530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B39CE44-8F5C-40AB-9B1E-E4A49CB39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838700"/>
            <a:ext cx="1943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1A1C"/>
                </a:solidFill>
              </a:defRPr>
            </a:pPr>
            <a:r>
              <a:rPr sz="1125" b="0">
                <a:solidFill>
                  <a:srgbClr val="201A1C"/>
                </a:solidFill>
              </a:rPr>
              <a:t>Claim TAT and leakage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8498290-DACC-4160-AB62-17CD4F7A5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8F5F1"/>
          </a:solidFill>
          <a:ln xmlns:a="http://schemas.openxmlformats.org/drawingml/2006/main" w="0">
            <a:solidFill>
              <a:srgbClr val="E8F5F1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034FE7-900D-4B6A-A166-806816208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6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7968"/>
                </a:solidFill>
              </a:defRPr>
            </a:pPr>
            <a:r>
              <a:rPr sz="975" b="1">
                <a:solidFill>
                  <a:srgbClr val="167968"/>
                </a:solidFill>
              </a:rPr>
              <a:t>Pilot target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29980A4-1493-4828-8243-3EFAFFA62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92455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1A1C"/>
                </a:solidFill>
              </a:defRPr>
            </a:pPr>
            <a:r>
              <a:rPr sz="1125" b="1">
                <a:solidFill>
                  <a:srgbClr val="201A1C"/>
                </a:solidFill>
              </a:rPr>
              <a:t>+10% renewal completion and -20% claim-status support contacts versus matched control.</a:t>
            </a:r>
          </a:p>
        </p:txBody>
      </p:sp>
    </p:spTree>
    <p:extLst>
      <p:ext uri="{BB962C8B-B14F-4D97-AF65-F5344CB8AC3E}">
        <p14:creationId xmlns:p14="http://schemas.microsoft.com/office/powerpoint/2010/main" val="146107970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526711F-9BA3-4831-AE32-BF072E5B2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D2F"/>
          </a:solidFill>
          <a:ln xmlns:a="http://schemas.openxmlformats.org/drawingml/2006/main" w="0">
            <a:solidFill>
              <a:srgbClr val="9F1D2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E0A31C-044D-484F-889E-291577184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F1D2F"/>
                </a:solidFill>
              </a:defRPr>
            </a:pPr>
            <a:r>
              <a:rPr sz="1125" b="1">
                <a:solidFill>
                  <a:srgbClr val="9F1D2F"/>
                </a:solidFill>
              </a:rPr>
              <a:t>INDIE  PROTECT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0B9E6B-5601-490C-8D64-81EE4F893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57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164"/>
                </a:solidFill>
              </a:defRPr>
            </a:pPr>
            <a:r>
              <a:rPr sz="975" b="1">
                <a:solidFill>
                  <a:srgbClr val="686164"/>
                </a:solidFill>
              </a:rPr>
              <a:t>GTM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E54E32-B606-482C-B452-A45CADEF8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1A1C"/>
                </a:solidFill>
              </a:defRPr>
            </a:pPr>
            <a:r>
              <a:rPr sz="2700" b="1">
                <a:solidFill>
                  <a:srgbClr val="201A1C"/>
                </a:solidFill>
              </a:rPr>
              <a:t>Bank signals create high-intent distribution moments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A7D8AD-4616-4A6E-8D9F-F5910C603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6164"/>
                </a:solidFill>
              </a:defRPr>
            </a:pPr>
            <a:r>
              <a:rPr sz="1275" b="0">
                <a:solidFill>
                  <a:srgbClr val="686164"/>
                </a:solidFill>
              </a:rPr>
              <a:t>Launch inside INDIE with consented, contextual prompts. Measure incremental protection actions against a holdout group.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DBFC18-22A8-414F-911D-884CE9C02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164"/>
                </a:solidFill>
              </a:defRPr>
            </a:pPr>
            <a:r>
              <a:rPr sz="975" b="1">
                <a:solidFill>
                  <a:srgbClr val="686164"/>
                </a:solidFill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1247B6-D77A-4A85-898E-FE2E8C6A8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34290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5491BB-5E2E-4E77-BF8F-5816C7B36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8763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8E9EC"/>
          </a:solidFill>
          <a:ln xmlns:a="http://schemas.openxmlformats.org/drawingml/2006/main" w="0">
            <a:solidFill>
              <a:srgbClr val="F8E9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93C8A4-2BE8-4F10-B00B-60128B794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43125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9F1D2F"/>
                </a:solidFill>
              </a:defRPr>
            </a:pPr>
            <a:r>
              <a:rPr sz="975" b="1">
                <a:solidFill>
                  <a:srgbClr val="9F1D2F"/>
                </a:solidFill>
              </a:rPr>
              <a:t>MOTOR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069C2C-8AD2-41AF-A5F0-496764AE3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3650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1A1C"/>
                </a:solidFill>
              </a:defRPr>
            </a:pPr>
            <a:r>
              <a:rPr sz="1575" b="1">
                <a:solidFill>
                  <a:srgbClr val="201A1C"/>
                </a:solidFill>
              </a:rPr>
              <a:t>Renewal or vehicle signal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3158CD-4154-40D5-B05E-CCB9EABCB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623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6164"/>
                </a:solidFill>
              </a:defRPr>
            </a:pPr>
            <a:r>
              <a:rPr sz="1050" b="0">
                <a:solidFill>
                  <a:srgbClr val="686164"/>
                </a:solidFill>
              </a:rPr>
              <a:t>Policy premium detected, FASTag activity, or car-loan milestone.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CBDEB8-5CB7-43DE-942E-CAF649D8D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4810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ADD"/>
          </a:solidFill>
          <a:ln xmlns:a="http://schemas.openxmlformats.org/drawingml/2006/main" w="0">
            <a:solidFill>
              <a:srgbClr val="DEDA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896F80-F971-46B8-9DFF-109D4C00C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624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F1D2F"/>
                </a:solidFill>
              </a:defRPr>
            </a:pPr>
            <a:r>
              <a:rPr sz="1050" b="1">
                <a:solidFill>
                  <a:srgbClr val="9F1D2F"/>
                </a:solidFill>
              </a:rPr>
              <a:t>Review cover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F4666F-B0C2-41ED-90F4-D224D0B55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885950"/>
            <a:ext cx="34290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E833F6-396D-40D9-92F7-42780ED8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95500"/>
            <a:ext cx="8763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8F5F1"/>
          </a:solidFill>
          <a:ln xmlns:a="http://schemas.openxmlformats.org/drawingml/2006/main" w="0">
            <a:solidFill>
              <a:srgbClr val="E8F5F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68B75C-672A-471D-A420-317805579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43125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7968"/>
                </a:solidFill>
              </a:defRPr>
            </a:pPr>
            <a:r>
              <a:rPr sz="975" b="1">
                <a:solidFill>
                  <a:srgbClr val="167968"/>
                </a:solidFill>
              </a:rPr>
              <a:t>HEALTH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503267-FE97-4191-873C-262C1BF5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33650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1A1C"/>
                </a:solidFill>
              </a:defRPr>
            </a:pPr>
            <a:r>
              <a:rPr sz="1575" b="1">
                <a:solidFill>
                  <a:srgbClr val="201A1C"/>
                </a:solidFill>
              </a:rPr>
              <a:t>Family protection gap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B12900-10CE-4E92-858A-DD5107957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1623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6164"/>
                </a:solidFill>
              </a:defRPr>
            </a:pPr>
            <a:r>
              <a:rPr sz="1050" b="0">
                <a:solidFill>
                  <a:srgbClr val="686164"/>
                </a:solidFill>
              </a:rPr>
              <a:t>Salary customer with dependants and low declared base cover.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540558-F3E4-4C38-8C03-A31F90252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84810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ADD"/>
          </a:solidFill>
          <a:ln xmlns:a="http://schemas.openxmlformats.org/drawingml/2006/main" w="0">
            <a:solidFill>
              <a:srgbClr val="DEDAD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E8768A-5DFC-4019-9424-4ABBB1BCB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9624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7968"/>
                </a:solidFill>
              </a:defRPr>
            </a:pPr>
            <a:r>
              <a:rPr sz="1050" b="1">
                <a:solidFill>
                  <a:srgbClr val="167968"/>
                </a:solidFill>
              </a:rPr>
              <a:t>Check health gap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A350CF-067C-42A6-A61B-323129A8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85950"/>
            <a:ext cx="34290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A7B37B-08DC-4F34-BAB3-9B0152C52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8763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9F2F8"/>
          </a:solidFill>
          <a:ln xmlns:a="http://schemas.openxmlformats.org/drawingml/2006/main" w="0">
            <a:solidFill>
              <a:srgbClr val="E9F2F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0910D4-A594-4B0E-B46F-9EE45B956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43125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D658E"/>
                </a:solidFill>
              </a:defRPr>
            </a:pPr>
            <a:r>
              <a:rPr sz="975" b="1">
                <a:solidFill>
                  <a:srgbClr val="2D658E"/>
                </a:solidFill>
              </a:rPr>
              <a:t>TRAVEL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38002F-5AF7-4205-8186-F7BAF4341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33650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1A1C"/>
                </a:solidFill>
              </a:defRPr>
            </a:pPr>
            <a:r>
              <a:rPr sz="1575" b="1">
                <a:solidFill>
                  <a:srgbClr val="201A1C"/>
                </a:solidFill>
              </a:rPr>
              <a:t>Upcoming trip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5E9565-AEDC-47A1-BB34-11821BAF5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623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6164"/>
                </a:solidFill>
              </a:defRPr>
            </a:pPr>
            <a:r>
              <a:rPr sz="1050" b="0">
                <a:solidFill>
                  <a:srgbClr val="686164"/>
                </a:solidFill>
              </a:rPr>
              <a:t>Forex, travel card, or ticket-related intent with explicit consent.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3C59F5-0240-493E-86A2-0820E0F0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4810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ADD"/>
          </a:solidFill>
          <a:ln xmlns:a="http://schemas.openxmlformats.org/drawingml/2006/main" w="0">
            <a:solidFill>
              <a:srgbClr val="DEDAD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C85123-AAFC-4782-BA25-8BAC9A32A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624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D658E"/>
                </a:solidFill>
              </a:defRPr>
            </a:pPr>
            <a:r>
              <a:rPr sz="1050" b="1">
                <a:solidFill>
                  <a:srgbClr val="2D658E"/>
                </a:solidFill>
              </a:rPr>
              <a:t>Offer trip cover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D04021-F3B7-4F15-8491-69DB19580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1A1C"/>
                </a:solidFill>
              </a:defRPr>
            </a:pPr>
            <a:r>
              <a:rPr sz="1500" b="1">
                <a:solidFill>
                  <a:srgbClr val="201A1C"/>
                </a:solidFill>
              </a:rPr>
              <a:t>90-day pilot design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E5EB76-2AA4-444E-BBE1-A521D48E2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3429000" cy="100965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F8E9EC"/>
          </a:solidFill>
          <a:ln xmlns:a="http://schemas.openxmlformats.org/drawingml/2006/main" w="0">
            <a:solidFill>
              <a:srgbClr val="F8E9E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C5CF9D-6914-4220-8875-D7D877E9E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625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F1D2F"/>
                </a:solidFill>
              </a:defRPr>
            </a:pPr>
            <a:r>
              <a:rPr sz="900" b="1">
                <a:solidFill>
                  <a:srgbClr val="9F1D2F"/>
                </a:solidFill>
              </a:rPr>
              <a:t>AUDIENCE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7A7DE0-BC9D-431C-8906-CA3E5CFA5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10200"/>
            <a:ext cx="3124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1A1C"/>
                </a:solidFill>
              </a:defRPr>
            </a:pPr>
            <a:r>
              <a:rPr sz="1275" b="1">
                <a:solidFill>
                  <a:srgbClr val="201A1C"/>
                </a:solidFill>
              </a:rPr>
              <a:t>100K eligible retail customers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2007D73-8EA3-4F0F-917A-A5239C1B3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95950"/>
            <a:ext cx="312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6164"/>
                </a:solidFill>
              </a:defRPr>
            </a:pPr>
            <a:r>
              <a:rPr sz="975" b="0">
                <a:solidFill>
                  <a:srgbClr val="686164"/>
                </a:solidFill>
              </a:rPr>
              <a:t>Bengaluru + Mumbai; motor renewal window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7F03A15-EFB4-4054-A86D-CB3E1AB8F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029200"/>
            <a:ext cx="3429000" cy="100965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E9F2F8"/>
          </a:solidFill>
          <a:ln xmlns:a="http://schemas.openxmlformats.org/drawingml/2006/main" w="0">
            <a:solidFill>
              <a:srgbClr val="E9F2F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B9D6F94-CACE-4B4D-B422-379AD3005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1625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658E"/>
                </a:solidFill>
              </a:defRPr>
            </a:pPr>
            <a:r>
              <a:rPr sz="900" b="1">
                <a:solidFill>
                  <a:srgbClr val="2D658E"/>
                </a:solidFill>
              </a:rPr>
              <a:t>CHANNELS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1A8F430-4E13-4072-BBC1-FD3C3468D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410200"/>
            <a:ext cx="3124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1A1C"/>
                </a:solidFill>
              </a:defRPr>
            </a:pPr>
            <a:r>
              <a:rPr sz="1275" b="1">
                <a:solidFill>
                  <a:srgbClr val="201A1C"/>
                </a:solidFill>
              </a:rPr>
              <a:t>INDIE home, inbox, RM assist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5CA003F-3E59-4D71-AE64-F67355449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695950"/>
            <a:ext cx="312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6164"/>
                </a:solidFill>
              </a:defRPr>
            </a:pPr>
            <a:r>
              <a:rPr sz="975" b="0">
                <a:solidFill>
                  <a:srgbClr val="686164"/>
                </a:solidFill>
              </a:rPr>
              <a:t>No unsolicited cold-call dependency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CD65DAF-91A6-43BD-AF14-922EFFD2B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29200"/>
            <a:ext cx="3429000" cy="100965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E8F5F1"/>
          </a:solidFill>
          <a:ln xmlns:a="http://schemas.openxmlformats.org/drawingml/2006/main" w="0">
            <a:solidFill>
              <a:srgbClr val="E8F5F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3C78873-9943-4C18-878F-9B160BED9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625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7968"/>
                </a:solidFill>
              </a:defRPr>
            </a:pPr>
            <a:r>
              <a:rPr sz="900" b="1">
                <a:solidFill>
                  <a:srgbClr val="167968"/>
                </a:solidFill>
              </a:rPr>
              <a:t>TEST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3BE89CA-C790-493B-B8AE-EE5D8B6B4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410200"/>
            <a:ext cx="3124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1A1C"/>
                </a:solidFill>
              </a:defRPr>
            </a:pPr>
            <a:r>
              <a:rPr sz="1275" b="1">
                <a:solidFill>
                  <a:srgbClr val="201A1C"/>
                </a:solidFill>
              </a:rPr>
              <a:t>Personalised vs generic vs holdout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92313A4-04EF-4D61-A6E6-C9381CF53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695950"/>
            <a:ext cx="312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6164"/>
                </a:solidFill>
              </a:defRPr>
            </a:pPr>
            <a:r>
              <a:rPr sz="975" b="0">
                <a:solidFill>
                  <a:srgbClr val="686164"/>
                </a:solidFill>
              </a:rPr>
              <a:t>Measure incremental quote, renewal, and trust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530B500-3203-4732-B045-F9FAB07DB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A7376"/>
                </a:solidFill>
              </a:defRPr>
            </a:pPr>
            <a:r>
              <a:rPr sz="900" b="0">
                <a:solidFill>
                  <a:srgbClr val="7A7376"/>
                </a:solidFill>
              </a:rPr>
              <a:t>Pilot audience and thresholds are proposed assumptions. All targeting requires explicit purpose and consent controls.</a:t>
            </a:r>
          </a:p>
        </p:txBody>
      </p:sp>
    </p:spTree>
    <p:extLst>
      <p:ext uri="{BB962C8B-B14F-4D97-AF65-F5344CB8AC3E}">
        <p14:creationId xmlns:p14="http://schemas.microsoft.com/office/powerpoint/2010/main" val="99479571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0B717C4-D577-470C-B0FF-DF82F70A4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D2F"/>
          </a:solidFill>
          <a:ln xmlns:a="http://schemas.openxmlformats.org/drawingml/2006/main" w="0">
            <a:solidFill>
              <a:srgbClr val="9F1D2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33508A-2560-4552-B5BB-22319A08B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F1D2F"/>
                </a:solidFill>
              </a:defRPr>
            </a:pPr>
            <a:r>
              <a:rPr sz="1125" b="1">
                <a:solidFill>
                  <a:srgbClr val="9F1D2F"/>
                </a:solidFill>
              </a:rPr>
              <a:t>INDIE  PROTECT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2ECD44-CB73-4D01-B0CF-1A9944D1B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57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164"/>
                </a:solidFill>
              </a:defRPr>
            </a:pPr>
            <a:r>
              <a:rPr sz="975" b="1">
                <a:solidFill>
                  <a:srgbClr val="686164"/>
                </a:solidFill>
              </a:rPr>
              <a:t>ROADMAP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54AEE0-EE4D-44FE-A600-CCF369103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1A1C"/>
                </a:solidFill>
              </a:defRPr>
            </a:pPr>
            <a:r>
              <a:rPr sz="2700" b="1">
                <a:solidFill>
                  <a:srgbClr val="201A1C"/>
                </a:solidFill>
              </a:rPr>
              <a:t>Prove motor and health value before scaling the ecosystem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1FC92C-CB15-47FB-AEFF-7F2B3916D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6164"/>
                </a:solidFill>
              </a:defRPr>
            </a:pPr>
            <a:r>
              <a:rPr sz="1275" b="0">
                <a:solidFill>
                  <a:srgbClr val="686164"/>
                </a:solidFill>
              </a:rPr>
              <a:t>Sequence integrations by customer value and operational confidence, not by category count.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E5F14D-04FA-48F7-A902-7B0F2E8DB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164"/>
                </a:solidFill>
              </a:defRPr>
            </a:pPr>
            <a:r>
              <a:rPr sz="975" b="1">
                <a:solidFill>
                  <a:srgbClr val="686164"/>
                </a:solidFill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28283E-3807-42B4-B9D1-78B7736CF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2571750" cy="31051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3885CF-4C6B-45E2-97D5-0BDC2EBBD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25717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F1D2F"/>
          </a:solidFill>
          <a:ln xmlns:a="http://schemas.openxmlformats.org/drawingml/2006/main" w="0">
            <a:solidFill>
              <a:srgbClr val="9F1D2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F7AF0D-BC8E-474B-AC03-8E14D4627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F1D2F"/>
                </a:solidFill>
              </a:defRPr>
            </a:pPr>
            <a:r>
              <a:rPr sz="900" b="1">
                <a:solidFill>
                  <a:srgbClr val="9F1D2F"/>
                </a:solidFill>
              </a:rPr>
              <a:t>0-3 MONTHS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EEBC4C-315B-4FBD-88F3-02C1FFC4A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1A1C"/>
                </a:solidFill>
              </a:defRPr>
            </a:pPr>
            <a:r>
              <a:rPr sz="1725" b="1">
                <a:solidFill>
                  <a:srgbClr val="201A1C"/>
                </a:solidFill>
              </a:rPr>
              <a:t>Foundation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F51E82-A8AF-4C50-9094-FC0C6CE14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766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1D2F"/>
          </a:solidFill>
          <a:ln xmlns:a="http://schemas.openxmlformats.org/drawingml/2006/main" w="0">
            <a:solidFill>
              <a:srgbClr val="9F1D2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330B90-C383-483C-B93C-D89F0B0E9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0040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1A1C"/>
                </a:solidFill>
              </a:defRPr>
            </a:pPr>
            <a:r>
              <a:rPr sz="1125" b="1">
                <a:solidFill>
                  <a:srgbClr val="201A1C"/>
                </a:solidFill>
              </a:rPr>
              <a:t>Policy vault + import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391824-2A52-4959-9878-0B59463F5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90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1D2F"/>
          </a:solidFill>
          <a:ln xmlns:a="http://schemas.openxmlformats.org/drawingml/2006/main" w="0">
            <a:solidFill>
              <a:srgbClr val="9F1D2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2F9679-E69D-48C3-8347-9D2C9D046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1A1C"/>
                </a:solidFill>
              </a:defRPr>
            </a:pPr>
            <a:r>
              <a:rPr sz="1125" b="0">
                <a:solidFill>
                  <a:srgbClr val="201A1C"/>
                </a:solidFill>
              </a:rPr>
              <a:t>Consent and profile layer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F1C6F1-6913-41D8-AF58-A9A56E48D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053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1D2F"/>
          </a:solidFill>
          <a:ln xmlns:a="http://schemas.openxmlformats.org/drawingml/2006/main" w="0">
            <a:solidFill>
              <a:srgbClr val="9F1D2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8F7B9B-511D-4578-BD79-7D2147498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2910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1A1C"/>
                </a:solidFill>
              </a:defRPr>
            </a:pPr>
            <a:r>
              <a:rPr sz="1125" b="0">
                <a:solidFill>
                  <a:srgbClr val="201A1C"/>
                </a:solidFill>
              </a:rPr>
              <a:t>Motor renewal pilot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C7A7DC-530A-4330-A13B-32B09BF28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981200"/>
            <a:ext cx="2571750" cy="31051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53A076-93BB-430B-BF6C-07023D707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981200"/>
            <a:ext cx="25717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658E"/>
          </a:solidFill>
          <a:ln xmlns:a="http://schemas.openxmlformats.org/drawingml/2006/main" w="0">
            <a:solidFill>
              <a:srgbClr val="2D658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EA8E27-FED8-4412-B4A9-5A93A808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241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658E"/>
                </a:solidFill>
              </a:defRPr>
            </a:pPr>
            <a:r>
              <a:rPr sz="900" b="1">
                <a:solidFill>
                  <a:srgbClr val="2D658E"/>
                </a:solidFill>
              </a:rPr>
              <a:t>3-6 MONTHS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C5624F-A371-4596-A308-0C9C1C47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670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1A1C"/>
                </a:solidFill>
              </a:defRPr>
            </a:pPr>
            <a:r>
              <a:rPr sz="1725" b="1">
                <a:solidFill>
                  <a:srgbClr val="201A1C"/>
                </a:solidFill>
              </a:rPr>
              <a:t>MVP launch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5FB2D0-670B-4BBE-AAA1-937290FF3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766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58E"/>
          </a:solidFill>
          <a:ln xmlns:a="http://schemas.openxmlformats.org/drawingml/2006/main" w="0">
            <a:solidFill>
              <a:srgbClr val="2D658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77CC13-9506-4BBA-971F-CF30A806B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20040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1A1C"/>
                </a:solidFill>
              </a:defRPr>
            </a:pPr>
            <a:r>
              <a:rPr sz="1125" b="1">
                <a:solidFill>
                  <a:srgbClr val="201A1C"/>
                </a:solidFill>
              </a:rPr>
              <a:t>Motor + health discovery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844D57-8EC7-47F9-B744-85EE71205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90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58E"/>
          </a:solidFill>
          <a:ln xmlns:a="http://schemas.openxmlformats.org/drawingml/2006/main" w="0">
            <a:solidFill>
              <a:srgbClr val="2D658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BDB67F-95A8-4A92-BC8F-4E9D82DC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71475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1A1C"/>
                </a:solidFill>
              </a:defRPr>
            </a:pPr>
            <a:r>
              <a:rPr sz="1125" b="0">
                <a:solidFill>
                  <a:srgbClr val="201A1C"/>
                </a:solidFill>
              </a:rPr>
              <a:t>Compare and purchase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C92BF4-78EB-4215-B421-641CCEE91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3053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58E"/>
          </a:solidFill>
          <a:ln xmlns:a="http://schemas.openxmlformats.org/drawingml/2006/main" w="0">
            <a:solidFill>
              <a:srgbClr val="2D658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3B79CB-E688-410E-933C-C6ADFFF7B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22910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1A1C"/>
                </a:solidFill>
              </a:defRPr>
            </a:pPr>
            <a:r>
              <a:rPr sz="1125" b="0">
                <a:solidFill>
                  <a:srgbClr val="201A1C"/>
                </a:solidFill>
              </a:rPr>
              <a:t>Guided claim tracking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33BB02-C3E2-4439-BF06-773BEC5C2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81200"/>
            <a:ext cx="2571750" cy="31051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20402B-93E0-46C7-A9A7-3E221D7D1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81200"/>
            <a:ext cx="25717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968"/>
          </a:solidFill>
          <a:ln xmlns:a="http://schemas.openxmlformats.org/drawingml/2006/main" w="0">
            <a:solidFill>
              <a:srgbClr val="16796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EFDECD-3AB5-402D-9FC8-C518C3B2F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241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7968"/>
                </a:solidFill>
              </a:defRPr>
            </a:pPr>
            <a:r>
              <a:rPr sz="900" b="1">
                <a:solidFill>
                  <a:srgbClr val="167968"/>
                </a:solidFill>
              </a:rPr>
              <a:t>6-12 MONTHS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523DD8-8B1A-4106-9377-CB884D28E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670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1A1C"/>
                </a:solidFill>
              </a:defRPr>
            </a:pPr>
            <a:r>
              <a:rPr sz="1725" b="1">
                <a:solidFill>
                  <a:srgbClr val="201A1C"/>
                </a:solidFill>
              </a:rPr>
              <a:t>Value ecosystem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83C3DA-E925-4BE3-B263-B6F429BB4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766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968"/>
          </a:solidFill>
          <a:ln xmlns:a="http://schemas.openxmlformats.org/drawingml/2006/main" w="0">
            <a:solidFill>
              <a:srgbClr val="16796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DA91F01-7CA7-43E2-9A21-58D5019F7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0040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1A1C"/>
                </a:solidFill>
              </a:defRPr>
            </a:pPr>
            <a:r>
              <a:rPr sz="1125" b="1">
                <a:solidFill>
                  <a:srgbClr val="201A1C"/>
                </a:solidFill>
              </a:rPr>
              <a:t>Roadside + telemedicine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B9EDD5-FB7E-4472-B425-E20442533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90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968"/>
          </a:solidFill>
          <a:ln xmlns:a="http://schemas.openxmlformats.org/drawingml/2006/main" w="0">
            <a:solidFill>
              <a:srgbClr val="16796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AB5B42A-D940-4D82-90BA-A045A1590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1475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1A1C"/>
                </a:solidFill>
              </a:defRPr>
            </a:pPr>
            <a:r>
              <a:rPr sz="1125" b="0">
                <a:solidFill>
                  <a:srgbClr val="201A1C"/>
                </a:solidFill>
              </a:rPr>
              <a:t>Protect AI explanations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A2C921F-AA0C-4912-AAE0-DC4973C88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053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968"/>
          </a:solidFill>
          <a:ln xmlns:a="http://schemas.openxmlformats.org/drawingml/2006/main" w="0">
            <a:solidFill>
              <a:srgbClr val="16796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F55C51E-96BF-4160-8357-A1A591034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2910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1A1C"/>
                </a:solidFill>
              </a:defRPr>
            </a:pPr>
            <a:r>
              <a:rPr sz="1125" b="0">
                <a:solidFill>
                  <a:srgbClr val="201A1C"/>
                </a:solidFill>
              </a:rPr>
              <a:t>Partner service SLAs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575E7EB-833A-428F-8D52-02AE30964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981200"/>
            <a:ext cx="2571750" cy="31051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5666C86-64B2-4483-92D4-5A1A1E61A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981200"/>
            <a:ext cx="25717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65300"/>
          </a:solidFill>
          <a:ln xmlns:a="http://schemas.openxmlformats.org/drawingml/2006/main" w="0">
            <a:solidFill>
              <a:srgbClr val="76530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9B183FC-09D3-4530-A623-C951AD193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3241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65300"/>
                </a:solidFill>
              </a:defRPr>
            </a:pPr>
            <a:r>
              <a:rPr sz="900" b="1">
                <a:solidFill>
                  <a:srgbClr val="765300"/>
                </a:solidFill>
              </a:rPr>
              <a:t>12-18 MONTHS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57127AB-261B-4ACD-9ABE-241B095F4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6670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1A1C"/>
                </a:solidFill>
              </a:defRPr>
            </a:pPr>
            <a:r>
              <a:rPr sz="1725" b="1">
                <a:solidFill>
                  <a:srgbClr val="201A1C"/>
                </a:solidFill>
              </a:rPr>
              <a:t>Scale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FCE408F-813B-4B24-BF70-73481744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766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5300"/>
          </a:solidFill>
          <a:ln xmlns:a="http://schemas.openxmlformats.org/drawingml/2006/main" w="0">
            <a:solidFill>
              <a:srgbClr val="76530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34D3E8E-D448-44B1-A2B4-0F6AB3E04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0040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1A1C"/>
                </a:solidFill>
              </a:defRPr>
            </a:pPr>
            <a:r>
              <a:rPr sz="1125" b="1">
                <a:solidFill>
                  <a:srgbClr val="201A1C"/>
                </a:solidFill>
              </a:rPr>
              <a:t>Travel and home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058FDAD-117E-409D-8703-439912D0C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790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5300"/>
          </a:solidFill>
          <a:ln xmlns:a="http://schemas.openxmlformats.org/drawingml/2006/main" w="0">
            <a:solidFill>
              <a:srgbClr val="76530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134ACEC-E6C4-4BCB-A689-88F28019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71475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1A1C"/>
                </a:solidFill>
              </a:defRPr>
            </a:pPr>
            <a:r>
              <a:rPr sz="1125" b="0">
                <a:solidFill>
                  <a:srgbClr val="201A1C"/>
                </a:solidFill>
              </a:rPr>
              <a:t>Open policy connectors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EEF6EC7-049A-4A4A-BB4B-E5A449BE8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3053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5300"/>
          </a:solidFill>
          <a:ln xmlns:a="http://schemas.openxmlformats.org/drawingml/2006/main" w="0">
            <a:solidFill>
              <a:srgbClr val="76530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7DFB0C4-3A82-4845-B611-F9D8D8E9C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22910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1A1C"/>
                </a:solidFill>
              </a:defRPr>
            </a:pPr>
            <a:r>
              <a:rPr sz="1125" b="0">
                <a:solidFill>
                  <a:srgbClr val="201A1C"/>
                </a:solidFill>
              </a:rPr>
              <a:t>Claims automation pilots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C8221C7-0B92-468A-B3DD-DDAD9F956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972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B2024"/>
          </a:solidFill>
          <a:ln xmlns:a="http://schemas.openxmlformats.org/drawingml/2006/main" w="0">
            <a:solidFill>
              <a:srgbClr val="2B2024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E4A461D-B18A-418D-B2D5-084D5F81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626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0BBC4"/>
                </a:solidFill>
              </a:defRPr>
            </a:pPr>
            <a:r>
              <a:rPr sz="975" b="1">
                <a:solidFill>
                  <a:srgbClr val="F0BBC4"/>
                </a:solidFill>
              </a:rPr>
              <a:t>ARCHITECTURE PRINCIPLE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8FAF016-A1A9-4BAE-9DB6-9A48B66F3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340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Consent + policy data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D49E6DE-9E97-489C-9CA3-A41A2547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5340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B942"/>
                </a:solidFill>
              </a:defRPr>
            </a:pPr>
            <a:r>
              <a:rPr sz="1500" b="1">
                <a:solidFill>
                  <a:srgbClr val="F4B942"/>
                </a:solidFill>
              </a:rPr>
              <a:t>&gt;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AAF3FEF-8645-451D-ABFD-D411B9F43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5340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Protection orchestration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A5A900E-2EDA-458E-89DC-4545933C0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5340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B942"/>
                </a:solidFill>
              </a:defRPr>
            </a:pPr>
            <a:r>
              <a:rPr sz="1500" b="1">
                <a:solidFill>
                  <a:srgbClr val="F4B942"/>
                </a:solidFill>
              </a:rPr>
              <a:t>&gt;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E1AE44A-4066-404C-98AA-7AC8CABBA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5340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Insurers + service partners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21181D5-59FF-4E5D-843B-BDEB33775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534025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DDD3D6"/>
                </a:solidFill>
              </a:defRPr>
            </a:pPr>
            <a:r>
              <a:rPr sz="975" b="0">
                <a:solidFill>
                  <a:srgbClr val="DDD3D6"/>
                </a:solidFill>
              </a:rPr>
              <a:t>Auditable events across every layer</a:t>
            </a:r>
          </a:p>
        </p:txBody>
      </p:sp>
    </p:spTree>
    <p:extLst>
      <p:ext uri="{BB962C8B-B14F-4D97-AF65-F5344CB8AC3E}">
        <p14:creationId xmlns:p14="http://schemas.microsoft.com/office/powerpoint/2010/main" val="175982797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759AD81-7803-4481-BDEC-3C5F19C31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D2F"/>
          </a:solidFill>
          <a:ln xmlns:a="http://schemas.openxmlformats.org/drawingml/2006/main" w="0">
            <a:solidFill>
              <a:srgbClr val="9F1D2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DA5643-71A1-4993-9DEE-D80BC7618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F1D2F"/>
                </a:solidFill>
              </a:defRPr>
            </a:pPr>
            <a:r>
              <a:rPr sz="1125" b="1">
                <a:solidFill>
                  <a:srgbClr val="9F1D2F"/>
                </a:solidFill>
              </a:rPr>
              <a:t>INDIE  PROTECT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6A85DE-2E06-4293-A2D9-14DA45008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57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164"/>
                </a:solidFill>
              </a:defRPr>
            </a:pPr>
            <a:r>
              <a:rPr sz="975" b="1">
                <a:solidFill>
                  <a:srgbClr val="686164"/>
                </a:solidFill>
              </a:rPr>
              <a:t>DECISION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00F576-0CF6-4C61-9870-FBFA7F787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1A1C"/>
                </a:solidFill>
              </a:defRPr>
            </a:pPr>
            <a:r>
              <a:rPr sz="2700" b="1">
                <a:solidFill>
                  <a:srgbClr val="201A1C"/>
                </a:solidFill>
              </a:rPr>
              <a:t>Build trust with explainability, consent, and accountable claims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01661A-AE9F-492F-A4DC-C827D3DA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6164"/>
                </a:solidFill>
              </a:defRPr>
            </a:pPr>
            <a:r>
              <a:rPr sz="1275" b="0">
                <a:solidFill>
                  <a:srgbClr val="686164"/>
                </a:solidFill>
              </a:rPr>
              <a:t>Approve a 12-week motor + health pilot inside INDIE, with success judged on protected actions, renewal lift, and claim confidence.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442CCA-4C4A-47BD-BB7C-A644434FF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164"/>
                </a:solidFill>
              </a:defRPr>
            </a:pPr>
            <a:r>
              <a:rPr sz="975" b="1">
                <a:solidFill>
                  <a:srgbClr val="686164"/>
                </a:solidFill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6F564C-FAAB-48A3-A8F5-3F6B98AD6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67056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B3995D-2791-411C-ABBE-3D244D4CE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762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F1D2F"/>
          </a:solidFill>
          <a:ln xmlns:a="http://schemas.openxmlformats.org/drawingml/2006/main" w="0">
            <a:solidFill>
              <a:srgbClr val="9F1D2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B53B5C-4591-4525-ABE4-70CE7554A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193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1A1C"/>
                </a:solidFill>
              </a:defRPr>
            </a:pPr>
            <a:r>
              <a:rPr sz="1125" b="1">
                <a:solidFill>
                  <a:srgbClr val="201A1C"/>
                </a:solidFill>
              </a:rPr>
              <a:t>Mis-selling or biased recommendations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1C928E-94DF-4F45-AC15-F744C4CA8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19300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6164"/>
                </a:solidFill>
              </a:defRPr>
            </a:pPr>
            <a:r>
              <a:rPr sz="1050" b="0">
                <a:solidFill>
                  <a:srgbClr val="686164"/>
                </a:solidFill>
              </a:rPr>
              <a:t>Rank by customer fit; disclose trade-offs and commercial relationships.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9F807B-3039-43BF-81F6-C77F8AEFC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67056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1F4FBC-114C-43F4-9453-3C3AEBC02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762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658E"/>
          </a:solidFill>
          <a:ln xmlns:a="http://schemas.openxmlformats.org/drawingml/2006/main" w="0">
            <a:solidFill>
              <a:srgbClr val="2D658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7C5746-97F1-49A3-AC31-01520FF67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1A1C"/>
                </a:solidFill>
              </a:defRPr>
            </a:pPr>
            <a:r>
              <a:rPr sz="1125" b="1">
                <a:solidFill>
                  <a:srgbClr val="201A1C"/>
                </a:solidFill>
              </a:rPr>
              <a:t>Sensitive-data overreach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4E9A64-799A-4C77-88BD-B4B0A5CD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762250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6164"/>
                </a:solidFill>
              </a:defRPr>
            </a:pPr>
            <a:r>
              <a:rPr sz="1050" b="0">
                <a:solidFill>
                  <a:srgbClr val="686164"/>
                </a:solidFill>
              </a:rPr>
              <a:t>Purpose-specific consent, minimisation, revocation, and audit logs.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FA123F-53E5-4AE8-B7A8-162414936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67056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1AA94C-4F09-423C-9C74-068ED1815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762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3B3F"/>
          </a:solidFill>
          <a:ln xmlns:a="http://schemas.openxmlformats.org/drawingml/2006/main" w="0">
            <a:solidFill>
              <a:srgbClr val="C63B3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8BCB58-CB9E-41EB-86B7-F5CAC3599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052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1A1C"/>
                </a:solidFill>
              </a:defRPr>
            </a:pPr>
            <a:r>
              <a:rPr sz="1125" b="1">
                <a:solidFill>
                  <a:srgbClr val="201A1C"/>
                </a:solidFill>
              </a:rPr>
              <a:t>AI hallucination in policy advice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D3E946-2A14-4318-810C-4BAEE839C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505200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6164"/>
                </a:solidFill>
              </a:defRPr>
            </a:pPr>
            <a:r>
              <a:rPr sz="1050" b="0">
                <a:solidFill>
                  <a:srgbClr val="686164"/>
                </a:solidFill>
              </a:rPr>
              <a:t>Retrieval from approved wording, citations, guardrails, and human escalation.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95231B-2CC9-435A-A22D-D8A2F439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67056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05CAC1-25AB-46C3-8BB4-A1C87E358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762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968"/>
          </a:solidFill>
          <a:ln xmlns:a="http://schemas.openxmlformats.org/drawingml/2006/main" w="0">
            <a:solidFill>
              <a:srgbClr val="16796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C20D9D-9220-4D4E-A3BA-B7A3A101B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481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1A1C"/>
                </a:solidFill>
              </a:defRPr>
            </a:pPr>
            <a:r>
              <a:rPr sz="1125" b="1">
                <a:solidFill>
                  <a:srgbClr val="201A1C"/>
                </a:solidFill>
              </a:rPr>
              <a:t>Claim-status mismatch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1726A6-27C2-401E-B828-36CB982B7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248150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6164"/>
                </a:solidFill>
              </a:defRPr>
            </a:pPr>
            <a:r>
              <a:rPr sz="1050" b="0">
                <a:solidFill>
                  <a:srgbClr val="686164"/>
                </a:solidFill>
              </a:rPr>
              <a:t>Insurer-system source of truth, timestamps, ownership, and SLA alerts.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4EDD67-6A07-4BB2-9F26-0A7760AE7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67056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FA9A0C-7AA9-4C61-90E1-49AD390C4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762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65300"/>
          </a:solidFill>
          <a:ln xmlns:a="http://schemas.openxmlformats.org/drawingml/2006/main" w="0">
            <a:solidFill>
              <a:srgbClr val="7653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7A545E-D2A9-4197-A3C7-EB6C17576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911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1A1C"/>
                </a:solidFill>
              </a:defRPr>
            </a:pPr>
            <a:r>
              <a:rPr sz="1125" b="1">
                <a:solidFill>
                  <a:srgbClr val="201A1C"/>
                </a:solidFill>
              </a:rPr>
              <a:t>Partner service failure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653024-C908-41BB-8C2E-60699FD7D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991100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6164"/>
                </a:solidFill>
              </a:defRPr>
            </a:pPr>
            <a:r>
              <a:rPr sz="1050" b="0">
                <a:solidFill>
                  <a:srgbClr val="686164"/>
                </a:solidFill>
              </a:rPr>
              <a:t>Coverage map, service-level contracts, fallback providers, and incident review.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FA59C1-A2EB-4122-B406-621DC100C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924050"/>
            <a:ext cx="38671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2B2024"/>
          </a:solidFill>
          <a:ln xmlns:a="http://schemas.openxmlformats.org/drawingml/2006/main" w="0">
            <a:solidFill>
              <a:srgbClr val="2B202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4A285A-8062-4585-A0D4-D0A4960F5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71700"/>
            <a:ext cx="14097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9F1D2F"/>
          </a:solidFill>
          <a:ln xmlns:a="http://schemas.openxmlformats.org/drawingml/2006/main" w="0">
            <a:solidFill>
              <a:srgbClr val="9F1D2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258E29-2B47-43B0-BB72-FC1342E5D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219325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RECOMMENDATION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807F47-2F28-4801-ABAF-E24661D4A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4795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Launch the focused pilot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41A8376-2483-43F2-9B8E-76A9DBB3A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390900"/>
            <a:ext cx="3143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EDEF"/>
                </a:solidFill>
              </a:defRPr>
            </a:pPr>
            <a:r>
              <a:rPr sz="1350" b="1">
                <a:solidFill>
                  <a:srgbClr val="F2EDEF"/>
                </a:solidFill>
              </a:rPr>
              <a:t>Motor renewal + health-gap discovery</a:t>
            </a:r>
          </a:p>
          <a:p xmlns:a="http://schemas.openxmlformats.org/drawingml/2006/main">
            <a:pPr algn="l">
              <a:defRPr sz="1350" b="1">
                <a:solidFill>
                  <a:srgbClr val="F2EDEF"/>
                </a:solidFill>
              </a:defRPr>
            </a:pPr>
            <a:r>
              <a:rPr sz="1350" b="1">
                <a:solidFill>
                  <a:srgbClr val="F2EDEF"/>
                </a:solidFill>
              </a:rPr>
              <a:t>Unified policy vault</a:t>
            </a:r>
          </a:p>
          <a:p xmlns:a="http://schemas.openxmlformats.org/drawingml/2006/main">
            <a:pPr algn="l">
              <a:defRPr sz="1350" b="1">
                <a:solidFill>
                  <a:srgbClr val="F2EDEF"/>
                </a:solidFill>
              </a:defRPr>
            </a:pPr>
            <a:r>
              <a:rPr sz="1350" b="1">
                <a:solidFill>
                  <a:srgbClr val="F2EDEF"/>
                </a:solidFill>
              </a:rPr>
              <a:t>Guided claims + visible ownership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A923019-9800-48CD-97B9-07EFDA483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648200"/>
            <a:ext cx="3086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474D"/>
          </a:solidFill>
          <a:ln xmlns:a="http://schemas.openxmlformats.org/drawingml/2006/main" w="0">
            <a:solidFill>
              <a:srgbClr val="5A474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7473ED6-6721-438C-BEC2-C431950AF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8577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0BBC4"/>
                </a:solidFill>
              </a:defRPr>
            </a:pPr>
            <a:r>
              <a:rPr sz="900" b="1">
                <a:solidFill>
                  <a:srgbClr val="F0BBC4"/>
                </a:solidFill>
              </a:rPr>
              <a:t>WORKING PROTOTYPE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00A032E-8EB9-4D31-A32C-EA982AB4F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1244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Local demo: http://localhost:5173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FD06003-3417-4908-BB01-4AEA901C3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3911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5C9CD"/>
                </a:solidFill>
              </a:defRPr>
            </a:pPr>
            <a:r>
              <a:rPr sz="900" b="0">
                <a:solidFill>
                  <a:srgbClr val="D5C9CD"/>
                </a:solidFill>
              </a:rPr>
              <a:t>Public URL to be added after deployment approval.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ABF6BA8-8D7A-48B5-825C-6D5CD7CF1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A7376"/>
                </a:solidFill>
              </a:defRPr>
            </a:pPr>
            <a:r>
              <a:rPr sz="900" b="0">
                <a:solidFill>
                  <a:srgbClr val="7A7376"/>
                </a:solidFill>
              </a:rPr>
              <a:t>Prototype, product assumptions, and roadmap prepared for Product Matters 6.0 capstone evaluation.</a:t>
            </a:r>
          </a:p>
        </p:txBody>
      </p:sp>
    </p:spTree>
    <p:extLst>
      <p:ext uri="{BB962C8B-B14F-4D97-AF65-F5344CB8AC3E}">
        <p14:creationId xmlns:p14="http://schemas.microsoft.com/office/powerpoint/2010/main" val="1783451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2026-07-23T10:08:03.3600000Z</dcterms:created>
  <dcterms:modified xsi:type="dcterms:W3CDTF">2026-07-23T10:08:03.3600000Z</dcterms:modified>
</coreProperties>
</file>