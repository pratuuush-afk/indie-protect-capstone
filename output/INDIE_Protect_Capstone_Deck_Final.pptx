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7ca558b3f24238" /><Relationship Type="http://schemas.openxmlformats.org/officeDocument/2006/relationships/extended-properties" Target="/docProps/app.xml" Id="R00141bdb21eb452c" /><Relationship Type="http://schemas.openxmlformats.org/officeDocument/2006/relationships/officeDocument" Target="/ppt/presentation.xml" Id="R893a2cd8439249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82fe8e801b4db0"/>
  </p:sldMasterIdLst>
  <p:notesMasterIdLst>
    <p:notesMasterId xmlns:r="http://schemas.openxmlformats.org/officeDocument/2006/relationships" r:id="R678eb97a6e414ae5"/>
  </p:notesMasterIdLst>
  <p:sldIdLst>
    <p:sldId xmlns:r="http://schemas.openxmlformats.org/officeDocument/2006/relationships" id="256" r:id="R92f58740a24d43df"/>
    <p:sldId xmlns:r="http://schemas.openxmlformats.org/officeDocument/2006/relationships" id="257" r:id="Rbe4df149e65f4442"/>
    <p:sldId xmlns:r="http://schemas.openxmlformats.org/officeDocument/2006/relationships" id="258" r:id="Rda77a037faa44e30"/>
    <p:sldId xmlns:r="http://schemas.openxmlformats.org/officeDocument/2006/relationships" id="259" r:id="R256b1248afe143fc"/>
    <p:sldId xmlns:r="http://schemas.openxmlformats.org/officeDocument/2006/relationships" id="260" r:id="R4ad54c31c1854320"/>
    <p:sldId xmlns:r="http://schemas.openxmlformats.org/officeDocument/2006/relationships" id="261" r:id="Ra0fa497883514f0d"/>
    <p:sldId xmlns:r="http://schemas.openxmlformats.org/officeDocument/2006/relationships" id="262" r:id="Rd3135872d6d74172"/>
    <p:sldId xmlns:r="http://schemas.openxmlformats.org/officeDocument/2006/relationships" id="263" r:id="R15baaa4f906943ad"/>
    <p:sldId xmlns:r="http://schemas.openxmlformats.org/officeDocument/2006/relationships" id="264" r:id="R97791ffd71fc412d"/>
    <p:sldId xmlns:r="http://schemas.openxmlformats.org/officeDocument/2006/relationships" id="265" r:id="Rfb9f371c71ab4375"/>
    <p:sldId xmlns:r="http://schemas.openxmlformats.org/officeDocument/2006/relationships" id="266" r:id="R0591a63d7d5b417e"/>
    <p:sldId xmlns:r="http://schemas.openxmlformats.org/officeDocument/2006/relationships" id="267" r:id="Rb0572aeb03d54111"/>
    <p:sldId xmlns:r="http://schemas.openxmlformats.org/officeDocument/2006/relationships" id="268" r:id="R4ea2a49584f34457"/>
    <p:sldId xmlns:r="http://schemas.openxmlformats.org/officeDocument/2006/relationships" id="269" r:id="R1c9c41ddc5114e98"/>
    <p:sldId xmlns:r="http://schemas.openxmlformats.org/officeDocument/2006/relationships" id="270" r:id="R3a6bf74c2d3e49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dd9d9b09584e6b" /><Relationship Type="http://schemas.openxmlformats.org/officeDocument/2006/relationships/slideMaster" Target="/ppt/slideMasters/slideMaster1.xml" Id="R2282fe8e801b4db0" /><Relationship Type="http://schemas.openxmlformats.org/officeDocument/2006/relationships/notesMaster" Target="/ppt/notesMasters/notesMaster1.xml" Id="R678eb97a6e414ae5" /><Relationship Type="http://schemas.openxmlformats.org/officeDocument/2006/relationships/presProps" Target="/ppt/presProps.xml" Id="R2b3b34e3b9604c45" /><Relationship Type="http://schemas.openxmlformats.org/officeDocument/2006/relationships/tableStyles" Target="/ppt/tableStyles.xml" Id="Rd21fafaaa26b4c0c" /><Relationship Type="http://schemas.openxmlformats.org/officeDocument/2006/relationships/slide" Target="/ppt/slides/slide1.xml" Id="R92f58740a24d43df" /><Relationship Type="http://schemas.openxmlformats.org/officeDocument/2006/relationships/slide" Target="/ppt/slides/slide2.xml" Id="Rbe4df149e65f4442" /><Relationship Type="http://schemas.openxmlformats.org/officeDocument/2006/relationships/slide" Target="/ppt/slides/slide3.xml" Id="Rda77a037faa44e30" /><Relationship Type="http://schemas.openxmlformats.org/officeDocument/2006/relationships/slide" Target="/ppt/slides/slide4.xml" Id="R256b1248afe143fc" /><Relationship Type="http://schemas.openxmlformats.org/officeDocument/2006/relationships/slide" Target="/ppt/slides/slide5.xml" Id="R4ad54c31c1854320" /><Relationship Type="http://schemas.openxmlformats.org/officeDocument/2006/relationships/slide" Target="/ppt/slides/slide6.xml" Id="Ra0fa497883514f0d" /><Relationship Type="http://schemas.openxmlformats.org/officeDocument/2006/relationships/slide" Target="/ppt/slides/slide7.xml" Id="Rd3135872d6d74172" /><Relationship Type="http://schemas.openxmlformats.org/officeDocument/2006/relationships/slide" Target="/ppt/slides/slide8.xml" Id="R15baaa4f906943ad" /><Relationship Type="http://schemas.openxmlformats.org/officeDocument/2006/relationships/slide" Target="/ppt/slides/slide9.xml" Id="R97791ffd71fc412d" /><Relationship Type="http://schemas.openxmlformats.org/officeDocument/2006/relationships/slide" Target="/ppt/slides/slide10.xml" Id="Rfb9f371c71ab4375" /><Relationship Type="http://schemas.openxmlformats.org/officeDocument/2006/relationships/slide" Target="/ppt/slides/slide11.xml" Id="R0591a63d7d5b417e" /><Relationship Type="http://schemas.openxmlformats.org/officeDocument/2006/relationships/slide" Target="/ppt/slides/slide12.xml" Id="Rb0572aeb03d54111" /><Relationship Type="http://schemas.openxmlformats.org/officeDocument/2006/relationships/slide" Target="/ppt/slides/slide13.xml" Id="R4ea2a49584f34457" /><Relationship Type="http://schemas.openxmlformats.org/officeDocument/2006/relationships/slide" Target="/ppt/slides/slide14.xml" Id="R1c9c41ddc5114e98" /><Relationship Type="http://schemas.openxmlformats.org/officeDocument/2006/relationships/slide" Target="/ppt/slides/slide15.xml" Id="R3a6bf74c2d3e49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ff06eeccbc48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5b1c4170224367" /><Relationship Type="http://schemas.openxmlformats.org/officeDocument/2006/relationships/notesMaster" Target="/ppt/notesMasters/notesMaster1.xml" Id="R7a912023c75343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2f7c55386d4e47" /><Relationship Type="http://schemas.openxmlformats.org/officeDocument/2006/relationships/notesMaster" Target="/ppt/notesMasters/notesMaster1.xml" Id="R7652faff773849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1ff1433e91458b" /><Relationship Type="http://schemas.openxmlformats.org/officeDocument/2006/relationships/notesMaster" Target="/ppt/notesMasters/notesMaster1.xml" Id="R51dc85ea2c9144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9815f6ca5a46e1" /><Relationship Type="http://schemas.openxmlformats.org/officeDocument/2006/relationships/notesMaster" Target="/ppt/notesMasters/notesMaster1.xml" Id="R6c251b03273a4c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8edd5de7fc4d70" /><Relationship Type="http://schemas.openxmlformats.org/officeDocument/2006/relationships/notesMaster" Target="/ppt/notesMasters/notesMaster1.xml" Id="R16ad77e5091e46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26d336278147ae" /><Relationship Type="http://schemas.openxmlformats.org/officeDocument/2006/relationships/notesMaster" Target="/ppt/notesMasters/notesMaster1.xml" Id="Rdefc9f85c29b43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ad370a89b849ee" /><Relationship Type="http://schemas.openxmlformats.org/officeDocument/2006/relationships/notesMaster" Target="/ppt/notesMasters/notesMaster1.xml" Id="R0d86f94b929b43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c1c42a5df94dcf" /><Relationship Type="http://schemas.openxmlformats.org/officeDocument/2006/relationships/notesMaster" Target="/ppt/notesMasters/notesMaster1.xml" Id="Rdf948929ef1941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51132c25d44106" /><Relationship Type="http://schemas.openxmlformats.org/officeDocument/2006/relationships/notesMaster" Target="/ppt/notesMasters/notesMaster1.xml" Id="Rc9d93aea3f2740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c58bb55e304024" /><Relationship Type="http://schemas.openxmlformats.org/officeDocument/2006/relationships/notesMaster" Target="/ppt/notesMasters/notesMaster1.xml" Id="R2cb536c161e747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3c60185e474943" /><Relationship Type="http://schemas.openxmlformats.org/officeDocument/2006/relationships/notesMaster" Target="/ppt/notesMasters/notesMaster1.xml" Id="R3f0d9389a5944f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aa738182c148c8" /><Relationship Type="http://schemas.openxmlformats.org/officeDocument/2006/relationships/notesMaster" Target="/ppt/notesMasters/notesMaster1.xml" Id="Rf75c9802f8814c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30f43ee7b149af" /><Relationship Type="http://schemas.openxmlformats.org/officeDocument/2006/relationships/notesMaster" Target="/ppt/notesMasters/notesMaster1.xml" Id="R3e848ff9e55e4d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69756cb4f74cd6" /><Relationship Type="http://schemas.openxmlformats.org/officeDocument/2006/relationships/notesMaster" Target="/ppt/notesMasters/notesMaster1.xml" Id="Rf7ef85005eda48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4a52d613e641b6" /><Relationship Type="http://schemas.openxmlformats.org/officeDocument/2006/relationships/notesMaster" Target="/ppt/notesMasters/notesMaster1.xml" Id="R714dc07983674e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3ea4dde0744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8e17815aac48a1" /><Relationship Type="http://schemas.openxmlformats.org/officeDocument/2006/relationships/slideLayout" Target="/ppt/slideLayouts/slideLayout1.xml" Id="R99e490954caa46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e490954caa46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fa5f035f54ac5" /><Relationship Type="http://schemas.openxmlformats.org/officeDocument/2006/relationships/image" Target="/ppt/media/image.png" Id="R5f2dcdda12f64f50" /><Relationship Type="http://schemas.openxmlformats.org/officeDocument/2006/relationships/notesSlide" Target="/ppt/notesSlides/notesSlide1.xml" Id="R51579290cdfe44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f55857e104db7" /><Relationship Type="http://schemas.openxmlformats.org/officeDocument/2006/relationships/notesSlide" Target="/ppt/notesSlides/notesSlide2.xml" Id="R26dd1aae65bb41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75a28b9b54ad2" /><Relationship Type="http://schemas.openxmlformats.org/officeDocument/2006/relationships/image" Target="/ppt/media/image2.png" Id="R4d4b293b3f7b41e8" /><Relationship Type="http://schemas.openxmlformats.org/officeDocument/2006/relationships/notesSlide" Target="/ppt/notesSlides/notesSlide3.xml" Id="R9072350767534f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a040fd740415b" /><Relationship Type="http://schemas.openxmlformats.org/officeDocument/2006/relationships/notesSlide" Target="/ppt/notesSlides/notesSlide4.xml" Id="Rfc33b908fb514c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5274814b543cc" /><Relationship Type="http://schemas.openxmlformats.org/officeDocument/2006/relationships/notesSlide" Target="/ppt/notesSlides/notesSlide5.xml" Id="R08abed9ae7ec47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64c3d494c43c1" /><Relationship Type="http://schemas.openxmlformats.org/officeDocument/2006/relationships/notesSlide" Target="/ppt/notesSlides/notesSlide6.xml" Id="R2174591898da4d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c63f2c5534bb4" /><Relationship Type="http://schemas.openxmlformats.org/officeDocument/2006/relationships/notesSlide" Target="/ppt/notesSlides/notesSlide7.xml" Id="Reaee6d3212dd4c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d07756f824d24" /><Relationship Type="http://schemas.openxmlformats.org/officeDocument/2006/relationships/image" Target="/ppt/media/image3.png" Id="R30075c15c8db4628" /><Relationship Type="http://schemas.openxmlformats.org/officeDocument/2006/relationships/image" Target="/ppt/media/image4.png" Id="Rab2a343368bc4d17" /><Relationship Type="http://schemas.openxmlformats.org/officeDocument/2006/relationships/notesSlide" Target="/ppt/notesSlides/notesSlide8.xml" Id="R04fec4c5bbdc44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33a0f07c849e9" /><Relationship Type="http://schemas.openxmlformats.org/officeDocument/2006/relationships/image" Target="/ppt/media/image5.png" Id="R4b8ef6ce194a4186" /><Relationship Type="http://schemas.openxmlformats.org/officeDocument/2006/relationships/image" Target="/ppt/media/image6.png" Id="R935e475367d042cb" /><Relationship Type="http://schemas.openxmlformats.org/officeDocument/2006/relationships/notesSlide" Target="/ppt/notesSlides/notesSlide9.xml" Id="Rc4c54e76d58d43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8ad5a11c24108" /><Relationship Type="http://schemas.openxmlformats.org/officeDocument/2006/relationships/image" Target="/ppt/media/image7.png" Id="R7e70ecd901644f81" /><Relationship Type="http://schemas.openxmlformats.org/officeDocument/2006/relationships/image" Target="/ppt/media/image8.png" Id="R3eb59c2c6155448b" /><Relationship Type="http://schemas.openxmlformats.org/officeDocument/2006/relationships/notesSlide" Target="/ppt/notesSlides/notesSlide10.xml" Id="R81430f98f1d542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c83d62aed4018" /><Relationship Type="http://schemas.openxmlformats.org/officeDocument/2006/relationships/notesSlide" Target="/ppt/notesSlides/notesSlide11.xml" Id="R08d6fb983ebc48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85c0f31ea4daa" /><Relationship Type="http://schemas.openxmlformats.org/officeDocument/2006/relationships/notesSlide" Target="/ppt/notesSlides/notesSlide12.xml" Id="R9c180bcb669e48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da70075b34b87" /><Relationship Type="http://schemas.openxmlformats.org/officeDocument/2006/relationships/notesSlide" Target="/ppt/notesSlides/notesSlide13.xml" Id="R3101e322708547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baccbe5ff4791" /><Relationship Type="http://schemas.openxmlformats.org/officeDocument/2006/relationships/notesSlide" Target="/ppt/notesSlides/notesSlide14.xml" Id="R01bf0f19f5a54e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ba3f4d72e44eb" /><Relationship Type="http://schemas.openxmlformats.org/officeDocument/2006/relationships/notesSlide" Target="/ppt/notesSlides/notesSlide15.xml" Id="R6daa1d08beba45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115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FFEDD-7FAC-44FF-9792-09E8FE1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00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1523"/>
          </a:solidFill>
          <a:ln xmlns:a="http://schemas.openxmlformats.org/drawingml/2006/main" w="0">
            <a:solidFill>
              <a:srgbClr val="711523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dcdda12f64f50"/>
          <a:srcRect xmlns:a="http://schemas.openxmlformats.org/drawingml/2006/main" l="23785" t="0" r="23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00650" y="0"/>
            <a:ext cx="69913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31882-562D-4CA7-A856-AF842B91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2476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BD756-D25F-44A6-8DC0-34F2B490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BC4"/>
                </a:solidFill>
              </a:defRPr>
            </a:pPr>
            <a:r>
              <a:rPr sz="1125" b="1">
                <a:solidFill>
                  <a:srgbClr val="F0BBC4"/>
                </a:solidFill>
              </a:rPr>
              <a:t>PRODUCT MATTERS 6.0  | 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EF963-463A-4195-A414-77E69CDF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INDIE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Protect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89304-A5B7-4AE4-A44D-BA051C68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Insurance that stays useful after purchase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71FD1-9B4B-4372-89A6-B5D341FA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DDE1"/>
                </a:solidFill>
              </a:defRPr>
            </a:pPr>
            <a:r>
              <a:rPr sz="1350" b="0">
                <a:solidFill>
                  <a:srgbClr val="F4DDE1"/>
                </a:solidFill>
              </a:rPr>
              <a:t>See what you have. Compare what matters. Know who owns the next step when you claim.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12EDC-F7A6-4F0D-863F-DB53BA88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89"/>
          </a:solidFill>
          <a:ln xmlns:a="http://schemas.openxmlformats.org/drawingml/2006/main" w="0">
            <a:solidFill>
              <a:srgbClr val="D77A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7B01E-BBBA-4312-A416-3C1A8281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IndusInd General Insurance  x  E Cell IIT Guwahati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F86CA-78C4-4D7E-BE61-EE47016D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BBC4"/>
                </a:solidFill>
              </a:defRPr>
            </a:pPr>
            <a:r>
              <a:rPr sz="1050" b="0">
                <a:solidFill>
                  <a:srgbClr val="F0BBC4"/>
                </a:solidFill>
              </a:rPr>
              <a:t>Capstone submission  |  July 2026</a:t>
            </a:r>
          </a:p>
        </p:txBody>
      </p:sp>
    </p:spTree>
    <p:extLst>
      <p:ext uri="{BB962C8B-B14F-4D97-AF65-F5344CB8AC3E}">
        <p14:creationId xmlns:p14="http://schemas.microsoft.com/office/powerpoint/2010/main" val="1454624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D65810-C230-4797-B6C7-F77B2A19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67CC8-3233-4522-83C9-2760845A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C74EA-7B15-44C8-AEEF-880B7F15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CB4D0-77DB-40D8-AEFA-77E806D9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Buying insurance is easy. Understanding it is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7726E-85D2-4F49-9FD4-422C34EA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Customers can buy in minutes, yet still struggle to find their cover, exclusions, renewal date, or claim owner when it matters.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29E50-F823-4DE1-9933-EAAA467D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4F8F6-B53B-4795-ADA1-834A49E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4FE26-CE78-435C-87CD-B48369F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74291-EB1F-4EB4-BDA0-3C36AE63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F1D2F"/>
                </a:solidFill>
              </a:defRPr>
            </a:pPr>
            <a:r>
              <a:rPr sz="2400" b="1">
                <a:solidFill>
                  <a:srgbClr val="9F1D2F"/>
                </a:solidFill>
              </a:rPr>
              <a:t>1.0%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338E2-40F0-4C46-8973-EF86BEBC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574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1A1C"/>
                </a:solidFill>
              </a:defRPr>
            </a:pPr>
            <a:r>
              <a:rPr sz="1200" b="1">
                <a:solidFill>
                  <a:srgbClr val="201A1C"/>
                </a:solidFill>
              </a:rPr>
              <a:t>Non life insurance penetration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69B5B-427E-411D-A603-CAC00965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95550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India, FY 2023 to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DECE2-87D0-48AE-B74E-5FAA8EAF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A1A8F-DF01-4298-8CFF-5361ADD2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6D83B-3F02-411E-8A42-8B74C7F3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658E"/>
                </a:solidFill>
              </a:defRPr>
            </a:pPr>
            <a:r>
              <a:rPr sz="2400" b="1">
                <a:solidFill>
                  <a:srgbClr val="2D658E"/>
                </a:solidFill>
              </a:rPr>
              <a:t>USD 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691B5-BF19-4442-BF74-51DF9EA8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718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1A1C"/>
                </a:solidFill>
              </a:defRPr>
            </a:pPr>
            <a:r>
              <a:rPr sz="1200" b="1">
                <a:solidFill>
                  <a:srgbClr val="201A1C"/>
                </a:solidFill>
              </a:rPr>
              <a:t>Non life insurance density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7971E-E398-4C5D-BF58-E869A2E1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0000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Per person, FY 2023 to 2024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FE770-403C-4847-A31C-647B639B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E9F35-2B21-4D29-9182-3E44085C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BB24E-F81B-41DD-A78A-57E03A1D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7968"/>
                </a:solidFill>
              </a:defRPr>
            </a:pPr>
            <a:r>
              <a:rPr sz="2400" b="1">
                <a:solidFill>
                  <a:srgbClr val="167968"/>
                </a:solidFill>
              </a:rPr>
              <a:t>93%+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08162-B5BC-4A5A-A181-D17E2AF9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1A1C"/>
                </a:solidFill>
              </a:defRPr>
            </a:pPr>
            <a:r>
              <a:rPr sz="1200" b="1">
                <a:solidFill>
                  <a:srgbClr val="201A1C"/>
                </a:solidFill>
              </a:rPr>
              <a:t>IndusInd digital transaction mix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EB7B5-DE3E-425C-AAFE-0B9D392D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24450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A ready digital distribution 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9989C-BBBF-41D7-843D-13E08FFE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478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Where the journey breaks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4D1A8-D0C3-4B73-ACEA-310305FB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DB702-CDB8-4504-8EB7-E7C9E559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8CFCB1-41C2-4C17-9803-74583798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DISCOVER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67F28-1B03-49C4-9864-E2C7E332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A1C"/>
                </a:solidFill>
              </a:defRPr>
            </a:pPr>
            <a:r>
              <a:rPr sz="1350" b="1">
                <a:solidFill>
                  <a:srgbClr val="201A1C"/>
                </a:solidFill>
              </a:rPr>
              <a:t>Price is clear, suitability is not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0B9FD3-AAED-486B-B5E7-877B8E8A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146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People see premiums before they understand what is missing.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38477-93D1-4727-83F1-EB2D963B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86DCD7-E6BC-4E81-9284-D7E1350F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6D3F76-561C-4E68-8614-CFE17CF2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MANAGE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1242A8-F51D-4284-871C-00530702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3372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A1C"/>
                </a:solidFill>
              </a:defRPr>
            </a:pPr>
            <a:r>
              <a:rPr sz="1350" b="1">
                <a:solidFill>
                  <a:srgbClr val="201A1C"/>
                </a:solidFill>
              </a:rPr>
              <a:t>Policies are scattered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2FE6CC-D0CF-4D8E-8FC0-988FBB71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99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Documents, exclusions, and renewal dates sit in different places.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924A37-841A-4A85-A7E6-584F0DCE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B3F"/>
          </a:solidFill>
          <a:ln xmlns:a="http://schemas.openxmlformats.org/drawingml/2006/main" w="0">
            <a:solidFill>
              <a:srgbClr val="C63B3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6AA031-7621-4EF9-AD52-69D8BB9D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4815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BBFD10-051F-4D8D-A00F-A2CCE2A8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386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CLAIM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5C2B28-49DC-4098-8D33-81957EF9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290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A1C"/>
                </a:solidFill>
              </a:defRPr>
            </a:pPr>
            <a:r>
              <a:rPr sz="1350" b="1">
                <a:solidFill>
                  <a:srgbClr val="201A1C"/>
                </a:solidFill>
              </a:rPr>
              <a:t>A stressful moment becomes a document 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33CDDF-D43D-4092-97B7-96C459AA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053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The customer cannot see who owns the claim or what happens next.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2BA89F-C18B-4D2C-8D27-05B33814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FF97D9-69D4-4E55-B500-BFE6F6EB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33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RENEW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D0D10E-5F27-4230-8D2E-6AEEFD36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2442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A1C"/>
                </a:solidFill>
              </a:defRPr>
            </a:pPr>
            <a:r>
              <a:rPr sz="1350" b="1">
                <a:solidFill>
                  <a:srgbClr val="201A1C"/>
                </a:solidFill>
              </a:rPr>
              <a:t>The reminder asks for payment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758BA6-3369-4E8B-B7F6-70DF61C7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006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It rarely helps the customer decide whether the cover is still right.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C7C3AF-AAEF-49B8-854B-0A09D082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Sources: DFS Annual Report 2024 to 2025; IndusInd Bank Annual Report 2024 to 2025.</a:t>
            </a:r>
          </a:p>
        </p:txBody>
      </p:sp>
    </p:spTree>
    <p:extLst>
      <p:ext uri="{BB962C8B-B14F-4D97-AF65-F5344CB8AC3E}">
        <p14:creationId xmlns:p14="http://schemas.microsoft.com/office/powerpoint/2010/main" val="527122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D623E-087D-48F2-87E6-41D298AD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5BC56-E141-4628-8E80-3CBBA921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311C1-84A4-4DDE-AE7B-0F335420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PERSONA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36623-5357-4B8B-A303-001F3200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Ananya has insurance. She still does not feel protected.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A82EE-C3F6-4E4F-95C5-49847A99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She owns a car policy and family health cover, but has no simple way to see what is covered or what needs attention.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3C9FC-2148-4F60-8227-D6F22673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03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b293b3f7b41e8"/>
          <a:srcRect xmlns:a="http://schemas.openxmlformats.org/drawingml/2006/main" l="9360" t="0" r="93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1771650"/>
            <a:ext cx="4438650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ACD5C-3809-495C-82A3-75AD593B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9817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2E5BF-3F18-4DA8-85A2-336C6FB5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3525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774CB-2F14-4BBF-ADE4-6F465D61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PRIMARY PERSONA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F4DBF-3A21-4E93-99D9-ACF319B1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A1C"/>
                </a:solidFill>
              </a:defRPr>
            </a:pPr>
            <a:r>
              <a:rPr sz="1875" b="1">
                <a:solidFill>
                  <a:srgbClr val="201A1C"/>
                </a:solidFill>
              </a:rPr>
              <a:t>Ananya Rao, 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2C6D5-17E0-425C-9890-1A55EAD6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164"/>
                </a:solidFill>
              </a:defRPr>
            </a:pPr>
            <a:r>
              <a:rPr sz="1125" b="0">
                <a:solidFill>
                  <a:srgbClr val="686164"/>
                </a:solidFill>
              </a:rPr>
              <a:t>Product manager  |  Bengaluru  |  INDIE salary customer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27BC5-5A97-4148-B94C-A4BDA17D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OWNS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77454-D6BE-4D89-A8BB-6968E8A8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575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1A1C"/>
                </a:solidFill>
              </a:defRPr>
            </a:pPr>
            <a:r>
              <a:rPr sz="1200" b="0">
                <a:solidFill>
                  <a:srgbClr val="201A1C"/>
                </a:solidFill>
              </a:rPr>
              <a:t>Car policy + family health 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D9E3E-67C7-468A-A529-B1F4EDD5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F721E-1195-4B38-B3F8-5E528100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4D88D-8979-47F9-9134-8CB359EA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71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1A1C"/>
                </a:solidFill>
              </a:defRPr>
            </a:pPr>
            <a:r>
              <a:rPr sz="1200" b="0">
                <a:solidFill>
                  <a:srgbClr val="201A1C"/>
                </a:solidFill>
              </a:rPr>
              <a:t>Mobile first, compares before buying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BC2AB-E7DA-4890-B668-28792B0B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5A455-B37C-4BF6-8EEE-C7A4BD49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TRIGGER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EB5F0-566A-4ACA-8697-8546CA71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1A1C"/>
                </a:solidFill>
              </a:defRPr>
            </a:pPr>
            <a:r>
              <a:rPr sz="1200" b="0">
                <a:solidFill>
                  <a:srgbClr val="201A1C"/>
                </a:solidFill>
              </a:rPr>
              <a:t>Motor renewal due; parents ageing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4AF49-5533-4EA8-AFBE-A1AA90C0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9F252-DF0B-4851-8C06-469EFB8F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FRUSTRATION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4DEB86-CDCD-4419-B5E5-BE935825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00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1A1C"/>
                </a:solidFill>
              </a:defRPr>
            </a:pPr>
            <a:r>
              <a:rPr sz="1200" b="1">
                <a:solidFill>
                  <a:srgbClr val="201A1C"/>
                </a:solidFill>
              </a:rPr>
              <a:t>Does not know what is covered until a claim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36FD4-04AF-41B9-9B7D-62D8EA4C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B6200A-00D8-445E-80CE-9BF50219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JOB TO BE DONE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44F37-D32F-4969-833B-256B5D77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435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"Show me what I have, what I am missing, and what to do when something goes wrong."</a:t>
            </a:r>
          </a:p>
        </p:txBody>
      </p:sp>
    </p:spTree>
    <p:extLst>
      <p:ext uri="{BB962C8B-B14F-4D97-AF65-F5344CB8AC3E}">
        <p14:creationId xmlns:p14="http://schemas.microsoft.com/office/powerpoint/2010/main" val="732628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22202A-4AEF-4CC3-B336-8750C51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384EA-D850-47CD-880C-97978A61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7E61C-5909-4392-9948-5D1AF7B2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OPPORTUNITY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68C8D-C6ED-4A65-8FFC-A6606EBB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Begin with 15M INDIE retail accounts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7105A-D035-4CE2-A7FF-23FF6E40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Motor and health provide clear renewal and claim moments. They are a practical place to prove value before adding more categories.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41D4E-BBEB-48C6-A195-56211C79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D6D17-1249-4C03-B1A6-E84CB246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Reach funnel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C54C9-D570-4FC4-94FA-6552E6B6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334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4EF50-CE55-4EEA-B4A1-824F5B3B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5BDF9-594A-4495-A287-A1D63714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7172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41M+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A1A47-1516-4991-8CA1-4F0E1DC7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193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IndusInd customers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C0799-66E3-44BF-AB67-FAF24D3D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4572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E9340-E8FD-4C9D-9AF4-C21D1676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043D9-90D7-4BE3-985F-364EE2B5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432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15M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4963F-A85C-4E18-8D95-7A9A123B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909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Retail accounts targeted for INDIE migration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C4D2F-F4CF-4939-9583-5E951428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3810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4AF40-5FCE-43B8-ADD7-28206BA3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24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2BFA1-D929-47D4-8165-2F1CA80F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1482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1.5M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4B3F4-D0FA-4E7C-891F-8E553E5E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62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Three year protected customer ambition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B54B2-8634-48C6-B59C-80A3FC21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Assumption: SOM = 10% of SAM in three years.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5A34C-E973-4B56-8A9F-2DC62261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9149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26A19-2421-4B4D-AF14-1BA55E92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809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0">
            <a:solidFill>
              <a:srgbClr val="FFF5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57F22-91D8-44F2-8F7B-7D770838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4312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4B00"/>
                </a:solidFill>
              </a:defRPr>
            </a:pPr>
            <a:r>
              <a:rPr sz="975" b="1">
                <a:solidFill>
                  <a:srgbClr val="6D4B00"/>
                </a:solidFill>
              </a:rPr>
              <a:t>WHY MOTOR AND HEALTH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66A94-5A99-4AFD-9277-CD863DF5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9DA32-69BA-4BE0-8C1C-3DD05932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289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8700F-76D6-4168-9177-580AE4CC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A regular 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D04C2-F583-4145-99BA-5ABFDB32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09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Motor renewal creates a predictable annual moment.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DC0CFC-123C-4F09-9EB3-4302DAB6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7181D2-F90D-435A-9978-2EA910B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52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BE18D9-0EED-44D2-BBF8-C720550C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766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A costly gap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6DB605-FDCB-4486-B739-A459F32F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337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Low health cover can put household savings at risk.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BAEBBB-7B31-42FF-B750-DDA6C52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95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46D3EC-427E-4DDE-BE8E-4A970C1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B68413-4A63-42E1-AC5C-069E760F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005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The same core jobs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503C4-718C-4C5C-8EFE-C6B7DF76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576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Both require comparison, documents, claims, and renewal.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3A2B3D-552D-4A9C-B92B-66F818E5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62622E-E56F-4F6E-9A35-6859651F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3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Illustrative premium throughput at SOM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D7BA0C-2D26-439C-8759-4D915A0F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7968"/>
                </a:solidFill>
              </a:defRPr>
            </a:pPr>
            <a:r>
              <a:rPr sz="1500" b="1">
                <a:solidFill>
                  <a:srgbClr val="167968"/>
                </a:solidFill>
              </a:rPr>
              <a:t>Rs. 1,200 crore each year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3F4BC2-D6E0-4ABF-954F-F3DC7A36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197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64"/>
                </a:solidFill>
              </a:defRPr>
            </a:pPr>
            <a:r>
              <a:rPr sz="900" b="0">
                <a:solidFill>
                  <a:srgbClr val="686164"/>
                </a:solidFill>
              </a:rPr>
              <a:t>1.5M customers x assumed Rs. 8,000 annual premium. This is premium throughput, not revenue.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132BCD-C8C4-4AFD-9232-F924D4D5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Sources: IndusInd Bank Annual Report 2024 to 2025; INDIE press release, 5 Jun 2025. SOM and premium are assumptions.</a:t>
            </a:r>
          </a:p>
        </p:txBody>
      </p:sp>
    </p:spTree>
    <p:extLst>
      <p:ext uri="{BB962C8B-B14F-4D97-AF65-F5344CB8AC3E}">
        <p14:creationId xmlns:p14="http://schemas.microsoft.com/office/powerpoint/2010/main" val="698035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8B0CA65-4823-4DB6-A8DB-7F882A54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50C43-D9CD-43D9-8F7C-45DA14AB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3A9FC-874F-425A-9576-2CE5E14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COMPETITION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051B9-87FC-41DC-A914-8AE0F07F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Others help customers buy. INDIE Protect stays for the full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F5258-1CDA-4154-AF61-A781AA9E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The opportunity is to connect policies, useful reminders, claims, and support inside a banking app customers already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7BDD4-9560-4718-B7E3-864619D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53E04-B76F-4A9A-8151-89F81BAC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02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BB625-A006-462E-B297-E7CDFFAB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4D47C-0783-4AD3-9336-87419B2D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859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96CD1-85E4-4306-B6BB-B26AD4D8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288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COMPARE AND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183D2-2120-488C-8AC0-F4DC44ED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B4EC1-5CF0-4374-B996-9180104F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288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UNIFIED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1B3AB-2586-4180-87ED-F09D34DB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85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42DE3-8E1C-4244-80B3-119488E9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28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USEFUL BANK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8432B-CE3F-4A14-8800-9B6BE3CD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859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371CD-2036-4EFD-9118-56F8AEEA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288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CLAIMS AND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RENEWAL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D254E-53C3-4C46-A860-4756A309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859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D03AD-DFBA-4CBA-8FD6-0BFFDAD9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288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96B40-B9E9-4627-A38F-05E05CC9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9A097-31A4-4540-865C-13586C7A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Policybazaar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3F2584-9FEB-480A-972A-96353C2D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B7056-9388-4CED-B65D-FD4F121E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146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F90D8-F022-458F-86BC-CCD2A089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146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723EEE-4C26-474C-B1DD-48722A39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146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Partial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D4888-D5B3-41E4-880F-C51F7E21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14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B593B2-B0A0-4A28-915C-C0DE9B1B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14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Not offered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5313B7-3927-4F15-B641-531DDE3E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146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AADF4-FCA7-4BB3-A1A5-3CFEBD3A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146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Partial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ADB91-6D2B-468A-AE00-71D2CC05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146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B6FF61-857E-40F6-B3E6-94001CD4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146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Not offered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8FD28B-F4EC-425D-883D-9FF0C704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DC8D69-696E-424A-81A2-DBB44EE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ACKO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F9F43F-A2A7-4659-858A-D031E4F6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0D6156-A0BC-4744-8D1F-5C6071BD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432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Own and partners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3DA0B5-2EB4-4E61-B959-94E66C3A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DB9507-7988-40A6-B4DD-9D5F7728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432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Partial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B45549-86E9-497D-AB07-0A85E1C1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E2F517-1CF4-46C2-BD1F-339A1E1D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432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Not offered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15C3C8-B93F-4421-A3BF-C8095F78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8AC167-C4A8-422F-8468-4AEAD7BF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432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3ACD23-6A3C-4389-9571-8B3FCC84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724696-90E1-46FA-9725-4886FBC2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432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493E5E-6E6A-418D-8249-76DFA133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C80ED7-9232-40C3-B265-5CFCE3D0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19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Digit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A7A8E0-4667-42A0-906E-D5241B58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719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1F4BEE-920A-477F-B2DD-293C4E14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71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Own products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10AC17-53B5-43FC-AA5B-B04F9619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719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0B0604-A0F3-428A-850B-C7E52FE9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71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Not offered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012347-EF99-4B17-BF72-B8A7D5DE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71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CA4193-28C3-4AC1-8C13-4B4E8472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71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Not offered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9BD05A-1C9D-4A4E-A923-B6D736F5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719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DDC4C2-54F5-442D-B689-895BF78A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71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6B78FB-629F-4DBA-B5C7-092F47CB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719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382309-CBF2-4CBD-958C-83A590A8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71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Partial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E52A17-758D-4C54-A04F-81EC6C9B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D2CCC0-6764-4EB7-81ED-AECBC66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IndusInd today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05B099-6E5E-4E55-9882-F3A393AD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005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661785-8C2D-4566-86D6-A89BD595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005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Own products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639EB2-80D9-4103-9CB6-37B48DF5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005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B274BE-FDED-402F-8558-FC04DACA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005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Own only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551403-AE72-4D09-9A2C-32396560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005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199B7F-37C0-44B5-BB5B-0F1C30BB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00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Not offered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F3043C-AC85-4F24-95FC-63296DA6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005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1D765F-A5D9-4D5A-81DF-483D20A3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005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72DCB0-AD75-4E27-9D7A-B3C478A8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9D7D56-64DE-4904-8DCC-AEB0BAD0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005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Partial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DFF5CDD-8F08-47E2-B7FC-F42E3CCB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7C65C3-25DE-49DB-B5AF-18858E9E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Protect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8D4B5A-C1F4-4A07-AB0A-57014F94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292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414842E-E4D8-497E-9B5F-3045E692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29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2641167-E064-4CD0-BD54-8404DB52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292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F5F3B13-28E5-45B4-B9FA-25D25AE7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29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Cross insurer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655370-B007-461F-9D52-B75E6248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292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33FCB91-6620-4310-BCFF-EEB33F5A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29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FD09555-63CF-4521-B3E0-9E536D68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292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BC30DD-DB9D-4311-9FDA-BD6AC414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29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E9B879E-2F05-4F7D-A6CD-C73C81BA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292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E8563F7-C25B-401E-B4AB-79F9A985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29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142292C-C5CC-4E44-858E-000C5E4A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F42440C-30D7-4DDE-87B0-8BF8B0C6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58E"/>
                </a:solidFill>
              </a:defRPr>
            </a:pPr>
            <a:r>
              <a:rPr sz="1050" b="1">
                <a:solidFill>
                  <a:srgbClr val="2D658E"/>
                </a:solidFill>
              </a:rPr>
              <a:t>Bank advantage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C7BC5ED-7786-49A4-B1E4-1CD92DED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9055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Use consented bank context to spot a real need, explain the choice, and let the customer act in the same place.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C7E130C-5CA9-472A-ACCD-2C834695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Sources: ACKO, Policybazaar, Digit, and IndusInd General Insurance official app and claims pages.</a:t>
            </a:r>
          </a:p>
        </p:txBody>
      </p:sp>
    </p:spTree>
    <p:extLst>
      <p:ext uri="{BB962C8B-B14F-4D97-AF65-F5344CB8AC3E}">
        <p14:creationId xmlns:p14="http://schemas.microsoft.com/office/powerpoint/2010/main" val="1611200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399BDD-45AE-4718-8266-8DA359DC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5A592-25FA-4407-B8D6-60742992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FC01C-B970-484A-8DFD-D788405C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972B8-6962-4F85-8BD4-0004FF73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Know what you have. Choose what fits. Get help when it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2A71D-CEBD-4D6D-9007-E5D0936B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INDIE Protect gives customers one place to understand cover, take action, and follow a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10F67-0FFB-494C-83E6-8C84829D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CB418-5ED8-48E9-A70A-64996986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34361-8761-4B48-AE0E-AC508CA4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909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DF4C6-49D8-4BBF-9AB9-2B8328B4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800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D3D25-9B0D-4A96-A3FE-862F1CA0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KNOW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EAA06-A6A6-4D07-B973-ED196AFE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See every policy and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C82A7-BEAC-4FC0-88BB-FFA5740C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164"/>
                </a:solidFill>
              </a:defRPr>
            </a:pPr>
            <a:r>
              <a:rPr sz="1125" b="0">
                <a:solidFill>
                  <a:srgbClr val="686164"/>
                </a:solidFill>
              </a:rPr>
              <a:t>A protection score, plain language summaries, and one vault for every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81303-1E10-407B-953C-DA296495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701E8-6A83-4A9A-8C80-7711C718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33909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734F2-E7E1-41B6-B843-DEEB7272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800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819DE-514A-46D3-8D76-DBF6922D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COVER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5352-2E20-4EAA-BCD8-28B493E8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Compare the details that matter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33D1F-AD79-4BD6-8DB0-C4FBB542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76625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164"/>
                </a:solidFill>
              </a:defRPr>
            </a:pPr>
            <a:r>
              <a:rPr sz="1125" b="0">
                <a:solidFill>
                  <a:srgbClr val="686164"/>
                </a:solidFill>
              </a:rPr>
              <a:t>Matched choices, clear exclusions, and secure purchase through INDIE.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6435A-68AE-4E43-B5C2-9EB221A2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96CD2-7FF1-4A77-8A45-D758DFFF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33909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BDC02-A7D7-4A77-AABE-ADD88F2C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800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16A20-0D57-4489-808D-DC9FE535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288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ED679-0743-4963-88FD-FE972B7A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384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Get help with clear ownership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5E898-D737-450D-B202-191ED55A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164"/>
                </a:solidFill>
              </a:defRPr>
            </a:pPr>
            <a:r>
              <a:rPr sz="1125" b="0">
                <a:solidFill>
                  <a:srgbClr val="686164"/>
                </a:solidFill>
              </a:rPr>
              <a:t>Guided claims, visible status, renewals, roadside assistance, and telemedicine.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D90CD-BF48-4971-B4FD-EDF00B2B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4A80E1-4C14-41C9-B37E-8CD1CB8C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BC4"/>
                </a:solidFill>
              </a:defRPr>
            </a:pPr>
            <a:r>
              <a:rPr sz="975" b="1">
                <a:solidFill>
                  <a:srgbClr val="F0BBC4"/>
                </a:solidFill>
              </a:rPr>
              <a:t>CUSTOMER VALUE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E0AF82-7148-4DDC-B5C8-54DDAAEF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Confidence before purchase and control during a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EBEC7-F2C3-4F16-AAD4-EC9CABE4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815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DDF0"/>
                </a:solidFill>
              </a:defRPr>
            </a:pPr>
            <a:r>
              <a:rPr sz="975" b="1">
                <a:solidFill>
                  <a:srgbClr val="C6DDF0"/>
                </a:solidFill>
              </a:rPr>
              <a:t>BANK VALUE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C85ED3-852F-4383-B18A-57D730AF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673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More useful visits, stronger retention, and relevant offers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B40B9A-FBC6-48E8-81ED-C3BE4944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81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E4DA"/>
                </a:solidFill>
              </a:defRPr>
            </a:pPr>
            <a:r>
              <a:rPr sz="975" b="1">
                <a:solidFill>
                  <a:srgbClr val="BDE4DA"/>
                </a:solidFill>
              </a:rPr>
              <a:t>INSURER VALUE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453A5D-92B9-4EFA-ADB7-A0EB3A46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673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Cleaner intake, stronger engagement, fewer avoidable lapses</a:t>
            </a:r>
          </a:p>
        </p:txBody>
      </p:sp>
    </p:spTree>
    <p:extLst>
      <p:ext uri="{BB962C8B-B14F-4D97-AF65-F5344CB8AC3E}">
        <p14:creationId xmlns:p14="http://schemas.microsoft.com/office/powerpoint/2010/main" val="782206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20D423-D678-409E-A9BC-59CF2DD7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5B824-38FE-42CA-B8C0-71A94374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2EAC7-804E-49D1-9721-F77A8F12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FFF81-F534-4FE1-954D-6C904174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Each useful action makes the next one easier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F5B42-7EF2-46C8-83C1-F290E331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The journey keeps policy context together while keeping bank data out of underwriting and claim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8EBC4-125B-4394-852A-A2C18E3C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0CE27-920F-49A6-A4ED-823D453E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6F016-3926-46AF-840A-0BDDA3CB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3AC15-696E-423B-8B28-1B8F2989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8EE40-C7F7-4CE5-A7BE-E9E6C88E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9EA15-B67D-4CC9-A27A-9E3F14E3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Spot a 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2F07E-EB66-4C4E-8974-25A88E05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Profile and life stage prompts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E3E77-6932-42CB-9F86-89A864DF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1D2F"/>
                </a:solidFill>
              </a:defRPr>
            </a:pPr>
            <a:r>
              <a:rPr sz="1800" b="1">
                <a:solidFill>
                  <a:srgbClr val="9F1D2F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EE73B-3E9F-4104-8BCC-773697F8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7810B-151F-41D7-9103-AB0067A7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97409-8247-4BDC-B84F-5A64E94C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8AD83-D141-4F21-B1D8-CE3B30E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69125-1961-47DA-A862-F7C2C841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See the choice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3ABBE-C663-467F-86DC-7619C0BB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Premium, cover, exclusions,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DE336-52B0-4C40-AC7D-7856E1C9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1D2F"/>
                </a:solidFill>
              </a:defRPr>
            </a:pPr>
            <a:r>
              <a:rPr sz="1800" b="1">
                <a:solidFill>
                  <a:srgbClr val="9F1D2F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D2430-B73F-47BD-874F-775F686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CDEA7-8BA4-4CE6-9B45-F671112C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98DE3-9F6F-4C0E-812F-D6289E5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144DB-3AA0-4B61-A85E-4C3C86F9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BUY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ED57FA-775C-4DF9-A091-45211E16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Confirm clearly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BB2B0-5DB3-436F-A37B-04D706E9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Consent and payment through INDIE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CAF85-F7A0-45CA-BB40-88C95F33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1D2F"/>
                </a:solidFill>
              </a:defRPr>
            </a:pPr>
            <a:r>
              <a:rPr sz="1800" b="1">
                <a:solidFill>
                  <a:srgbClr val="9F1D2F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C8EB9-5F1A-4FE4-A353-3B327418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FF8BD-3AA2-4F2F-B2A0-A62BA864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933E03-574D-42C8-999B-DF1C5609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B549F-D6C5-4329-8563-5EFC0FBC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MANAGE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6F439-3991-49A9-952A-DFE43F40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One vault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EDBA90-C959-4CF4-90DD-0A3F74B5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Documents, plain language, reminders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32436E-A719-46F8-BAED-96E44941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1D2F"/>
                </a:solidFill>
              </a:defRPr>
            </a:pPr>
            <a:r>
              <a:rPr sz="1800" b="1">
                <a:solidFill>
                  <a:srgbClr val="9F1D2F"/>
                </a:solidFill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244300-78B4-40CC-B433-2D83BDB1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136761-A6F3-4A79-B068-79E8F337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B3F"/>
          </a:solidFill>
          <a:ln xmlns:a="http://schemas.openxmlformats.org/drawingml/2006/main" w="0">
            <a:solidFill>
              <a:srgbClr val="C63B3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81D1FF-5358-499F-AB20-B7127DF2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1E1508-BB36-41AB-A399-E08B1958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CLAIM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616AEA-FD29-4669-86BD-FD29E0E8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Visible ownership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E6B8C3-55C8-4769-8FD9-EE77BD16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Evidence, next step, status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4119DE-A57C-430F-B8A1-27AC8C02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1D2F"/>
                </a:solidFill>
              </a:defRPr>
            </a:pPr>
            <a:r>
              <a:rPr sz="1800" b="1">
                <a:solidFill>
                  <a:srgbClr val="9F1D2F"/>
                </a:solidFill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C82FB9-F53B-4D56-99CD-91A4AE3E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249192-D8B8-40CF-B8F3-9C884E91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FC9270-FC2D-4BBB-9D81-D7EB1B7A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E7EE1A-3D87-4B3D-9E7B-BF98DFA6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RENEW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01D1FA-EE71-4DC6-9364-DE89FE3A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Protection review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1D1A90-321D-4762-8368-5F7394FF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Continuity, NCB, proactive advice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E2E722-B050-457B-AD84-33DBB7BC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96210A-4A8C-4E74-8C4B-1184B580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THE LOOP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C1D4CC-ACB7-4A4E-80CF-578320FA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768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A1C"/>
                </a:solidFill>
              </a:defRPr>
            </a:pPr>
            <a:r>
              <a:rPr sz="1350" b="1">
                <a:solidFill>
                  <a:srgbClr val="201A1C"/>
                </a:solidFill>
              </a:rPr>
              <a:t>What the customer does next can improve future prompts. It must never influence underwriting or the outcome of a claim.</a:t>
            </a:r>
          </a:p>
        </p:txBody>
      </p:sp>
    </p:spTree>
    <p:extLst>
      <p:ext uri="{BB962C8B-B14F-4D97-AF65-F5344CB8AC3E}">
        <p14:creationId xmlns:p14="http://schemas.microsoft.com/office/powerpoint/2010/main" val="793604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789E1F-F6E2-4AC4-AF9B-CE2F9257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51CA6-8650-4D34-8DDC-3D945D3F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33724-824F-47E5-85C2-7AD69A2D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C34EE-92FB-48A8-AAAA-7CABF729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Home tells Ananya what needs attention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6FF98-66D2-42DA-9821-995B2FD1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The first screen shows her protection score, upcoming renewal, active policies, and the fastest route to help.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689D3-96C0-4D54-8B5C-52D23188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503F9-BA77-4B46-B78A-A3939227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171700" cy="47053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75c15c8db4628"/>
          <a:srcRect xmlns:a="http://schemas.openxmlformats.org/drawingml/2006/main" l="1759" t="0" r="17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1819275"/>
            <a:ext cx="2038350" cy="457200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9D232-0952-4482-B428-FE0D1704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52600"/>
            <a:ext cx="2171700" cy="47053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a343368bc4d17"/>
          <a:srcRect xmlns:a="http://schemas.openxmlformats.org/drawingml/2006/main" l="1759" t="0" r="17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57575" y="1819275"/>
            <a:ext cx="2038350" cy="457200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C197C-76ED-4A50-8D8E-13240835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59614-B2C2-4DEE-99F5-999A1C0E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ADE1A-0C6F-42CA-8DC2-D62CA2D9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4025B-CBF0-46C0-8975-EB3C791F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050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Protection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EF72C-DD19-4CDB-8750-0796F772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A quick view of what is covered and what needs attention.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C20EE-95C2-4787-B6CA-80C15C2E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D19A3-FBD5-4243-9743-0AA2DBC2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0">
            <a:solidFill>
              <a:srgbClr val="FFF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B1C1A-832B-405C-93E6-D0435573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65300"/>
                </a:solidFill>
              </a:defRPr>
            </a:pPr>
            <a:r>
              <a:rPr sz="975" b="1">
                <a:solidFill>
                  <a:srgbClr val="765300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4FEDD-8A20-4225-9E1E-FB6041AC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718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Renewal 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44A452-08F8-4900-8FAF-79E352FE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575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The date, no claim bonus, and next action appear together.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010CA-8E70-4C6F-A055-26ABD97E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D5DE2-A54F-4218-B264-4E2E98BD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7FE84-F96A-416F-A77F-DD8BD5B7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119A17-8926-4076-8968-22720319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386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One policy vault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EA121A-931F-4FC5-BA34-E0788968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243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IndusInd and external policies sit in the same 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2F2DF-C942-4EB2-9395-D8DEE21C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816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278421-227E-4A1F-9D9C-126B8B7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149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C861F9-150B-4549-B214-CC890FEC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72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404D8-106C-4105-B3FE-26672479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054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Consent 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88502D-524A-4E74-B9D6-3F844C7B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5911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Connected data helps find gaps; the customer can remove access.</a:t>
            </a:r>
          </a:p>
        </p:txBody>
      </p:sp>
    </p:spTree>
    <p:extLst>
      <p:ext uri="{BB962C8B-B14F-4D97-AF65-F5344CB8AC3E}">
        <p14:creationId xmlns:p14="http://schemas.microsoft.com/office/powerpoint/2010/main" val="1049672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A874F-6942-437C-A119-712664C8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1F0A6-C9B3-4D99-8152-E118185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DD019-EF12-465E-90AE-52A893D3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26913-1BCA-4DE1-A95D-8D001497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Show the real choice, not just the cheapest premium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9E93D-3513-4FE9-9F06-389C4C31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Customers compare fit, insured value, useful add ons, exclusions, and price before they confirm a simulated purchase.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BD45D-D5FB-47DE-82C8-4DBD13D6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E0DC4-EFC0-40CD-B238-6380DE59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076450" cy="44958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ef6ce194a4186"/>
          <a:srcRect xmlns:a="http://schemas.openxmlformats.org/drawingml/2006/main" l="1804" t="0" r="18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876425"/>
            <a:ext cx="1943100" cy="43624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e475367d042cb"/>
          <a:srcRect xmlns:a="http://schemas.openxmlformats.org/drawingml/2006/main" l="0" t="10993" r="0" b="10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7550" y="1847850"/>
            <a:ext cx="7981950" cy="4324350"/>
          </a:xfrm>
          <a:prstGeom xmlns:a="http://schemas.openxmlformats.org/drawingml/2006/main" prst="roundRect">
            <a:avLst>
              <a:gd name="adj" fmla="val 176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FA9B9-5FF7-4DBD-9B07-6352690B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91150"/>
            <a:ext cx="3619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09328-E65D-488E-BDE7-CA797EEA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054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F"/>
                </a:solidFill>
              </a:defRPr>
            </a:pPr>
            <a:r>
              <a:rPr sz="1050" b="1">
                <a:solidFill>
                  <a:srgbClr val="9F1D2F"/>
                </a:solidFill>
              </a:rPr>
              <a:t>Why this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E7C3E-0499-4220-A9A0-EFAF5FB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673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A1C"/>
                </a:solidFill>
              </a:defRPr>
            </a:pPr>
            <a:r>
              <a:rPr sz="1050" b="1">
                <a:solidFill>
                  <a:srgbClr val="201A1C"/>
                </a:solidFill>
              </a:rPr>
              <a:t>Rs. 179 each month makes the upgrade cost clear.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5DDAF-246E-4989-A02D-08D53F4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91150"/>
            <a:ext cx="35814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CA417-B6D2-47D2-8538-D5C64DF3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05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Trust 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4C920-0242-4A68-9B12-669A7C3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6735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A1C"/>
                </a:solidFill>
              </a:defRPr>
            </a:pPr>
            <a:r>
              <a:rPr sz="1050" b="1">
                <a:solidFill>
                  <a:srgbClr val="201A1C"/>
                </a:solidFill>
              </a:rPr>
              <a:t>Coverage and exclusions stay visible before confirmation.</a:t>
            </a:r>
          </a:p>
        </p:txBody>
      </p:sp>
    </p:spTree>
    <p:extLst>
      <p:ext uri="{BB962C8B-B14F-4D97-AF65-F5344CB8AC3E}">
        <p14:creationId xmlns:p14="http://schemas.microsoft.com/office/powerpoint/2010/main" val="20623630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AEE00A-A8FC-416D-830D-A6A3D644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76FA7-99D4-457D-A189-F6DEE333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C1CD1-FEB0-4EC8-8A63-66CC341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9E82D-D6AF-4A3C-8128-46B6D335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A claim should always show what happens next and who owns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24F16-FB83-4661-8EE1-CC915DA9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The flow asks for only the evidence needed, shows the current owner, and explains policy wording in plain language.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7412D-D55D-4BDA-A521-E099012C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110A5-8F72-4A06-B7B4-89567D47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133600" cy="46291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0ecd901644f81"/>
          <a:srcRect xmlns:a="http://schemas.openxmlformats.org/drawingml/2006/main" l="1858" t="0" r="18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" y="1819275"/>
            <a:ext cx="2000250" cy="44958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5CD5A-10CA-4C08-90F5-971C3FF7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2133600" cy="46291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59c2c6155448b"/>
          <a:srcRect xmlns:a="http://schemas.openxmlformats.org/drawingml/2006/main" l="1858" t="0" r="18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1819275"/>
            <a:ext cx="2000250" cy="44958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525C7-0C80-419E-A5D4-4811FBA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C7090-E0DF-4156-8641-F45E8B28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C8E78-F221-4520-A1E8-F7FBC0DA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3A1B0-B712-4020-B035-4C26C7E0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621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Three step intake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27128-3EE9-4C77-9DD2-6981C6A8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479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Incident, evidence, and confirmation. Ask only for what is needed.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0456E-9633-4768-9205-8F98407D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FBC4D-E570-4126-AB92-74AE7501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E1D60-DEC4-4F78-A511-2936C801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A7BE0-38A2-49A5-B314-11D14B2F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670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Visible ownership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746E3-7B6C-401F-868C-00BD6ECB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The customer sees the current team, action, and expected update.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C7F5D-6202-4059-AAF5-9C2F6404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EA660-237E-44FE-878B-13584300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FE0DC-B5E5-4D12-8E2A-61BFF5B5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C077D-8657-4B77-8907-7A8D5DC7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719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Plain language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F4944A-CC45-4DCA-816A-2E88354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577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The assistant explains terms and always links back to the policy wording.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B39006-0CF5-4995-9FF7-FD1AE965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4762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0">
            <a:solidFill>
              <a:srgbClr val="FFF5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7000F-7A88-4017-B70F-4B773DED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5300"/>
                </a:solidFill>
              </a:defRPr>
            </a:pPr>
            <a:r>
              <a:rPr sz="1050" b="1">
                <a:solidFill>
                  <a:srgbClr val="765300"/>
                </a:solidFill>
              </a:rPr>
              <a:t>Prototype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18ECD-CDF5-4DB4-B7C4-8E6AE2B9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86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A1C"/>
                </a:solidFill>
              </a:defRPr>
            </a:pPr>
            <a:r>
              <a:rPr sz="1050" b="1">
                <a:solidFill>
                  <a:srgbClr val="201A1C"/>
                </a:solidFill>
              </a:rPr>
              <a:t>Claim updates are simulated so the full journey can be tested without live insurer systems.</a:t>
            </a:r>
          </a:p>
        </p:txBody>
      </p:sp>
    </p:spTree>
    <p:extLst>
      <p:ext uri="{BB962C8B-B14F-4D97-AF65-F5344CB8AC3E}">
        <p14:creationId xmlns:p14="http://schemas.microsoft.com/office/powerpoint/2010/main" val="28076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97990C2-B850-4663-9209-F1B3D987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20A91-81C0-47C2-BADB-56911CF8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36268-A0E5-4BB1-B7C0-6ED388AC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05F3F-2C4A-4117-B104-CAD27B82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Build the trust basics before adding more categories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7FB44-B33D-466F-895A-25AB0AD4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The first release favours the features customers need to understand cover, renew on time, and finish a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E7275-6100-4A2A-9421-CB95FCD0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B750C-F529-4998-8E4A-4B385E0B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02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C06C5-6D30-40E8-9B10-F08D6610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3B9F1-2AB8-46E6-9DE7-27374A0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4785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18DD1-F4F1-4AE7-A31A-5E17DC5D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00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C8377-5D30-4661-95F4-480F5E92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478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BE910-6908-438C-AAB5-FD2BAAAC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342F8-51B1-4355-B57F-AC4E79FA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478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A5F55-EB83-4312-8959-8ABB987E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030E1-B3A1-4E5E-BB5C-7C967491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4785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14571-3977-4723-929A-93797150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EFFORT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1387E-3F6B-4CC1-BF4E-BFFB28B1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FEF50-3680-4923-B7F5-9E30934B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DC46E-9461-4B3D-8972-40403DE0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BB064-D289-4F7C-8BC1-FAD8481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Unified policy vault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AF171-1633-4F86-ADB9-8C9D8331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241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25D44-6F25-4005-9878-2F76F4B2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D3974-9FDE-40B1-A685-24CD474B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49F14-907B-43F2-8C68-0ED22DD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95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3.0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EBF2D-4549-4E82-A0BD-8B760938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55A585-E943-4C73-AAAE-31F46C73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85%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1BB1E-68D4-4A35-8CC2-B5C4B677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241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A4C41B-9D36-4EA1-92B1-4ACA12B6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95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E1CBD4-59CE-4DCE-A144-5CA30272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C341AA-08A9-4713-B6D9-0243AD48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95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11.5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01C492-0D0E-40EC-9D0D-8D4FA7F6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6697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575562-ACC1-484B-A6B3-D8CB653C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146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MUST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039593-242D-4480-9419-F308E8B6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C43D29-E188-4D5D-AE13-C2F5793B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Guided motor claims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C66DF8-96B6-4A01-A282-ED759C32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B86BBB-7A7C-41B1-8DA2-81EF2AF2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91DA97-B88D-47AB-A108-A26EA68F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76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8A2CBB-F4CC-4941-B1F8-C51AF733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48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3.0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7C13EE-9D8D-457A-90EC-D1DBA962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76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E67EFB-BF3C-45E5-B6F7-82A3B280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90%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B4F851-E7F2-4100-BA01-412ABF9B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765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2E91EE-D8A7-47C6-AE87-238A07C0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6F0632-DC37-4701-A604-CAD15778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7000F5-DCE7-4808-A3A6-E3926EDF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10.8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162067-E8CB-4C4C-9D80-A4EB58FA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1942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67E233-1CD0-4880-870C-D791C822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670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MUST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41DBEC-3006-4113-B3C5-AC08E17E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5CA5E6-0B63-42A8-9886-3BA66EB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Renewal nudges and autopay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B7A081-F55D-48B0-8BFF-FD25EC6D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290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1D0CE8-6587-46E1-A00A-D0BDB042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00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0A21EA-22B4-443A-A524-65954E84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2975A3-41B3-491A-9737-8C2311C7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00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2.0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6F6AD6-AA4B-402B-89EC-89432712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9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FE5268-382D-4D20-B6D1-62487D2A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00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90%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AF3ADF-1BA7-4DBD-8C0C-302A6FD7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4D221F-B596-450A-9656-7CFDA128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0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C551AF-7CD3-44AC-AC1B-C45260F9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21A684-BC93-49EA-9B91-571F7EBD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8.1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2193BB-5F83-46A8-A1E8-7A76F678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7187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8A353D-B7F6-4E9D-9F43-C4C8FC73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MUST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102A66-C24A-4540-86E2-AAECD3B3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77077B-6238-4C9F-A9B9-2F6A3A21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Transparent comparison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B5704E-4E4B-4536-A3D8-92816E03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814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5B0C31-9642-4AB8-95AB-7FFD0CEF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52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23E2B7-C863-4BE4-B793-6C89F2BC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81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D28B20-B554-416F-BA32-9D602A3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52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2.0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CF4580-D572-402D-A4D6-463DB6C3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123B0C-8E21-4472-A9D2-0F5F9E72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52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85%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31E543-9306-46C5-BE98-D5C8F0E7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814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F66BF0-5746-4D33-B8D6-FAC56C52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F311E1-17BC-4E82-B5B0-39137566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C8A5A12-DE0F-4D25-8701-CC7E2450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5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6.8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B1991F-332D-46A0-B0C1-F7D6C7BB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2432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E805EDB-DFC4-40B9-9757-3A6EE98D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MUST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608ADE-1FD6-4C85-B57D-84B8624E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258D6D5-D065-4E65-A9B8-EA95A233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Protection score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944567-86D5-42A6-99DB-D43DB661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339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4E4C6FC-6293-4661-A419-9CE9A1D5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05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6937822-A666-4AEF-930D-72E9F84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5DC005-DE8C-4025-98EA-A4C923B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05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0C50357-83A9-44A0-8A48-78F636FB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39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579C8F1-B407-4FD5-BC70-DF3A431B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70%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989D067-62DC-4628-812A-61FDC7F6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3A1AC57-8A7E-430B-9C83-494A650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05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78B26EB-438B-427F-B12E-249BC9D6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7AD5489-CB1A-4CBA-A958-E0531F1C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4.9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D3D2C84-3AB3-493E-A0FB-C2F7D820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7677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A644464-395E-4928-B9F0-BE8AEA02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244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SHOULD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6917819-8236-43F3-A330-CFD05753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346142D-4B3B-46B7-BAB2-6F4AD627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Policy explanations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3253570-A1AA-4A23-855B-2FF01FA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863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29DBA68-C244-4C80-8F57-A9CF40BE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57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6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18E9C89-9235-4490-9366-82331912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863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1414D20-3657-4E19-92CD-01917693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57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2.0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3F1834D-A616-43BB-96DF-E4BF9D8B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863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0DFB6CF-FE97-4020-9DCC-604A17A7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57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65%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944B7BB-62A0-4244-890D-1B18369B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863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90F42A9-2FCB-4DCA-A139-4FB1F1FC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57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52E1A3B-9DA0-4057-8BB6-5C8D10A1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863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7F6B0F-8142-40C1-B143-840A8899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2.6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BA40FA0-949C-42DD-974E-BA743A4E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2922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9984071-99DD-4DF0-B013-A84CFB3A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768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SHOULD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0B257AC-8416-46E5-8512-3FEC323F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0">
            <a:solidFill>
              <a:srgbClr val="FFF5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F05C1E8-A90A-434C-8FD9-AE67AD0F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300"/>
                </a:solidFill>
              </a:defRPr>
            </a:pPr>
            <a:r>
              <a:rPr sz="975" b="1">
                <a:solidFill>
                  <a:srgbClr val="765300"/>
                </a:solidFill>
              </a:rPr>
              <a:t>OUT OF MVP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C1A0CF1-E9CB-4077-A065-8CA24B29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674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A1C"/>
                </a:solidFill>
              </a:defRPr>
            </a:pPr>
            <a:r>
              <a:rPr sz="1050" b="1">
                <a:solidFill>
                  <a:srgbClr val="201A1C"/>
                </a:solidFill>
              </a:rPr>
              <a:t>Real time telematics, automated fraud decisions, pet and rental cover, and autonomous claim decisions.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0F320CA-A0DA-4D63-B458-CEA121AB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RICE inputs are product assumptions: Reach (1 to 10), Impact (0.5 to 3), Confidence, and person month effort.</a:t>
            </a:r>
          </a:p>
        </p:txBody>
      </p:sp>
    </p:spTree>
    <p:extLst>
      <p:ext uri="{BB962C8B-B14F-4D97-AF65-F5344CB8AC3E}">
        <p14:creationId xmlns:p14="http://schemas.microsoft.com/office/powerpoint/2010/main" val="21018199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2DD171-72C2-43F1-9D47-8A14DA75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4E2CF-FF18-4B4A-A1D5-6C3F2489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568B1-54C8-47BA-9AA9-109915E1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944BD-5048-40F3-8FF4-F5D60D4E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Measure useful protection actions, not app opens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8119D-956B-4250-9B53-7AA2A9FC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The main measure counts actions that improve protection. Trust and claim quality remain firm guardrails.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ECF0B-7D2D-4B1B-8A10-B5767A99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1DFF3-B29C-40FA-9ED2-42F526A5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DAC25-DE7E-4E43-A802-EBD86D34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BC4"/>
                </a:solidFill>
              </a:defRPr>
            </a:pPr>
            <a:r>
              <a:rPr sz="975" b="1">
                <a:solidFill>
                  <a:srgbClr val="F0BBC4"/>
                </a:solidFill>
              </a:rPr>
              <a:t>NORTH STAR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1BC17-3DE9-48C5-87E4-E8FFC0D8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Monthly Protected Actions per Active Insured Customer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EB4E5-C4E8-4141-B278-2E4635BF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D3D6"/>
                </a:solidFill>
              </a:defRPr>
            </a:pPr>
            <a:r>
              <a:rPr sz="1050" b="0">
                <a:solidFill>
                  <a:srgbClr val="DDD3D6"/>
                </a:solidFill>
              </a:rPr>
              <a:t>Examples: gap review, policy import, purchase, renewal, claim step, or assistance request.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2F404-D788-4BBD-A452-383658C9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571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1316D-0502-401E-A943-E0EEF82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68CE7-5441-43AC-B7F8-A785DF1D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6C18C-3632-4324-BF53-EE918BDB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6E808-70C7-4813-B4E7-8A4E900A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Quote conversion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98F1B-EA69-4A6C-9D8B-1185E8D9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6A2F3-650E-4307-8E9E-4BEF07FA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Policies imported per 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EAA87-886E-413F-8552-6D3FF9D8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F0493-9C3E-4E19-A849-11B5F236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New insured customers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3D3AF5-C7AB-4EAC-A606-8B4B1F8F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571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C7B2E-4DCE-44BB-9F43-2B0F3243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71850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25F8C-2F13-44CE-852B-993FD37E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194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LIFECYCLE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17F046-F17F-41AD-A74D-51965022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D9A57-E4B4-43CA-BAF4-99A922B7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Renewal completion 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663318-7688-4182-A507-C1DAC8C8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6F940F-7FBF-42BA-9946-4085B7F9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43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Claim step completion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1F3BF-2B9B-462E-9930-881730CB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5B9BE-E9D1-4820-836D-F0CEA99F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387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Monthly protected actions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A2FE52-D22D-424A-A45A-1070343E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571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0A6235-95FB-4AEC-9B0E-B4DA379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B4630-C05A-4D1F-A6C1-D67E0A78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194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TRUST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A87FF-8928-4F15-ABCC-6F9901CE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3CAF3D-37F7-4CA8-AAAF-3F1A6415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Coverage comprehension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92CED-F8BE-49B1-A7B1-463C20BA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688670-5741-47CE-A219-466FBDD6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Claim CSAT / NPS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F483BF-C220-45A6-815A-BCF72266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B1DB8A-644A-47D9-B699-56F0D6A4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387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Repeat support contacts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F4AB26-9F5D-4B87-AD74-FAA06722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571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7A946E-3F9B-4E55-AA0B-97B27071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0">
            <a:solidFill>
              <a:srgbClr val="FFF5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36CEEC-72E3-4CE2-B3F0-011C19CA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194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65300"/>
                </a:solidFill>
              </a:defRPr>
            </a:pPr>
            <a:r>
              <a:rPr sz="975" b="1">
                <a:solidFill>
                  <a:srgbClr val="765300"/>
                </a:solidFill>
              </a:rPr>
              <a:t>GUARDRAILS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6C99A4-602B-429C-BFC7-76248877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4C8720-0379-4CE4-899C-C479BEF9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Complaint 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3A3B1B-05DA-4DB5-9646-CB43A9E6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D455BC-F815-42F3-9A25-C6ED3862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243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Consent opt out rate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F574BC-8167-4790-9B00-A2EEF05D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69EB1C-57E1-4C5B-B512-E3F8A3FC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387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Claim TAT and leakage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AFD9F7-B1F6-4EE1-9246-75CC5A33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1F4DA2-3265-4D6B-8A76-CCE6D2D7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Pilot target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A0CDD6-0B05-4543-97FE-D18B293F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24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10% more completed renewals and 20% fewer claim status support contacts versus a matched control.</a:t>
            </a:r>
          </a:p>
        </p:txBody>
      </p:sp>
    </p:spTree>
    <p:extLst>
      <p:ext uri="{BB962C8B-B14F-4D97-AF65-F5344CB8AC3E}">
        <p14:creationId xmlns:p14="http://schemas.microsoft.com/office/powerpoint/2010/main" val="2933654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588CE8-1829-4465-B8CA-2D398356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1B1DE-E41F-4E3C-9118-10AC2764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AF0E1-9F87-459D-9913-F67595DB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GTM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81630-EA2A-4A62-A0C5-39938757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Offer cover when the need is real and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5F517-7B80-4DDF-8B10-96A4A8B2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Start inside INDIE with clear consent. Compare the result with a holdout group so the team can see what actually changed.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A65F6-77F7-4549-8765-8792D368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BDA58-5B6C-4600-B97C-2D9F8781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34544-5215-4553-BE62-D2196361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42B25-E940-45F9-BDE3-16CA950F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MOTOR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4D42C-B02C-4EA6-A5DD-FDDBE43E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A1C"/>
                </a:solidFill>
              </a:defRPr>
            </a:pPr>
            <a:r>
              <a:rPr sz="1575" b="1">
                <a:solidFill>
                  <a:srgbClr val="201A1C"/>
                </a:solidFill>
              </a:rPr>
              <a:t>Renewal or vehicle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86929-2857-4DCA-BD28-0E02BC7E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Policy premium detected, FASTag activity, or a car loan milestone.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A9756-8671-4E78-AE8C-52DF6A36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EC0FC-159F-4731-9E50-4316FF67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F1D2F"/>
                </a:solidFill>
              </a:defRPr>
            </a:pPr>
            <a:r>
              <a:rPr sz="1050" b="1">
                <a:solidFill>
                  <a:srgbClr val="9F1D2F"/>
                </a:solidFill>
              </a:rPr>
              <a:t>Review 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A9A2F-ABC2-4E44-9F27-80E7B348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859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CFECD-551F-45D4-B427-1CF29E66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6D842-E535-474C-9C61-D057EDA1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HEALTH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BB0B9-F208-4C03-9844-1F3B06B4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A1C"/>
                </a:solidFill>
              </a:defRPr>
            </a:pPr>
            <a:r>
              <a:rPr sz="1575" b="1">
                <a:solidFill>
                  <a:srgbClr val="201A1C"/>
                </a:solidFill>
              </a:rPr>
              <a:t>Family protection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B80EC-5621-4693-ADB1-243197AA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623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Salary customer with dependants and low declared base cover.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41AE1-63A9-4B6E-A50D-7644EDE2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BA365-AC1B-429A-A1E8-81F15F77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624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Check health gap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84093-F8A0-4C3F-9A86-4CF772F3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31981-A87E-445E-B316-71C1582C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74EDC4-5AEF-43D3-9477-2672E58A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TRAVEL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35697-62C6-4462-9812-15E722EE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A1C"/>
                </a:solidFill>
              </a:defRPr>
            </a:pPr>
            <a:r>
              <a:rPr sz="1575" b="1">
                <a:solidFill>
                  <a:srgbClr val="201A1C"/>
                </a:solidFill>
              </a:rPr>
              <a:t>Upcoming trip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111710-8213-4AC2-9BCD-DFE0C5E7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Forex, travel card, or ticket activity with explicit consent.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9D5EF-7704-4425-80CB-2DBE2367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0565A-08BC-46DF-9398-1087CD5E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658E"/>
                </a:solidFill>
              </a:defRPr>
            </a:pPr>
            <a:r>
              <a:rPr sz="1050" b="1">
                <a:solidFill>
                  <a:srgbClr val="2D658E"/>
                </a:solidFill>
              </a:rPr>
              <a:t>Offer trip cover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C96BC6-7423-4554-8BF1-04385D64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90 day pilot design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07A6E0-EF6F-438F-9284-5F367F46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4290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358067-1E0D-484C-9421-9C56C76F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AUDIENCE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25AFC8-D543-4EF0-BA2A-17B1BA8F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3124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100K eligible retail customers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C5D7B2-A1FC-4725-B788-5E55F786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Bengaluru + Mumbai; motor renewal window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3D072F-9AA6-4EF1-A7C7-A8AB440A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9200"/>
            <a:ext cx="34290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7C1D1D-75DA-4BE5-9FDB-4A74D5C5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625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58E"/>
                </a:solidFill>
              </a:defRPr>
            </a:pPr>
            <a:r>
              <a:rPr sz="900" b="1">
                <a:solidFill>
                  <a:srgbClr val="2D658E"/>
                </a:solidFill>
              </a:rPr>
              <a:t>CHANNELS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3DF668-D6AC-4FC5-BC88-4F2AC179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3124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INDIE home, inbox, RM assist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3AD1D4-50D4-4CAF-A216-BB9679F7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959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No unsolicited cold call dependency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53192F-98B3-464C-BDDF-2A73CD47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29200"/>
            <a:ext cx="34290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28AE97-3ED1-4A8A-84D3-553EE7BF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625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968"/>
                </a:solidFill>
              </a:defRPr>
            </a:pPr>
            <a:r>
              <a:rPr sz="900" b="1">
                <a:solidFill>
                  <a:srgbClr val="167968"/>
                </a:solidFill>
              </a:rPr>
              <a:t>TEST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EE4107-9837-43A7-A905-1A3BD7F1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10200"/>
            <a:ext cx="3124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Personalised vs generic vs holdout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0F92D4-EDE2-47CC-BFC2-B1A2182A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959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Measure incremental quote, renewal, and trust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A1F464-E774-4891-A86D-588DCA20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Pilot audience and thresholds are proposed assumptions. All targeting requires explicit purpose and consent controls.</a:t>
            </a:r>
          </a:p>
        </p:txBody>
      </p:sp>
    </p:spTree>
    <p:extLst>
      <p:ext uri="{BB962C8B-B14F-4D97-AF65-F5344CB8AC3E}">
        <p14:creationId xmlns:p14="http://schemas.microsoft.com/office/powerpoint/2010/main" val="15734685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DA0A35-DE95-45AF-B905-1BA02191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C2EB4-6F65-4D1B-AB86-9075CFB9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4B882-2C35-4020-BCCC-6235573C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4B773-7643-4B48-B138-4566CD21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Prove motor and health first. Then widen the offer.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A18AB-033A-423D-A50A-A5FE7FDC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Add each new capability only after the customer journey and service operation work reliably.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8F01D-7362-44C7-ABAF-BFAD3BC7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D4CB1-D526-4685-8BA6-D989D780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71750" cy="3105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24DE0-5F39-467B-8BED-473CF4C7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BA311-29A1-4131-9D7B-1A5855F6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MONTHS 0 TO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73DD2-AED5-440F-B0E9-91DD0314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3B4C2-69ED-4FBD-A54E-F1BFABB0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3EBB0-AA80-48CF-9DD9-4913FC43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Policy vault and import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F0DBE-9DD6-46E9-9C85-C3E6669E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4B821-1572-4428-99E2-613AAD34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Consent and profile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83BCA-D197-41AF-8FA2-690A86E1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62FAE-7E9C-4882-A077-84245E38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Motor renewal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12CAC-F52A-4301-9D73-5CD3CDA8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2571750" cy="3105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1F8A8-C92E-47DC-A515-78921CCB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89392-7941-4844-AD1A-09C2060B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58E"/>
                </a:solidFill>
              </a:defRPr>
            </a:pPr>
            <a:r>
              <a:rPr sz="900" b="1">
                <a:solidFill>
                  <a:srgbClr val="2D658E"/>
                </a:solidFill>
              </a:rPr>
              <a:t>MONTHS 3 TO 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E6E7C-21C9-4ADA-B758-813FEC14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MVP launch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2DA0E-B0EE-4B1B-9E04-4919FBB7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91FE1-36C5-4A63-B2BA-E6BDD160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Motor and health discovery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C44CA-4E89-41B7-A214-46BF69A0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DBA44-F5BC-45CC-AE0A-AAB01B27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Compare and purchase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5CFB7F-7EEA-4FC0-BA1D-07B262B2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A9EBB-C894-4ECE-A854-7C40B141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291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Guided claim tracking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5659D-1DB1-46DF-A649-347C783C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2571750" cy="3105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812B0-4037-4C65-BF78-17377B88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91D0A1-0DBD-4712-AB14-AEFB0032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968"/>
                </a:solidFill>
              </a:defRPr>
            </a:pPr>
            <a:r>
              <a:rPr sz="900" b="1">
                <a:solidFill>
                  <a:srgbClr val="167968"/>
                </a:solidFill>
              </a:rPr>
              <a:t>MONTHS 6 TO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D16BF0-0803-4698-8B10-BF0EFF3A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Service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0549EA-701E-4DE4-BE79-76847020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7159C2-FBC4-403C-97E1-C2D4977C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Roadside and telemedicine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C32D68-6F01-48B7-8E06-D5D41CC4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438070-F566-4BD3-AE93-F9DDB2A0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Policy assistant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08FAEF-027C-47B6-9CE8-65FF143F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54B7D9-93A6-485D-9900-F682F3F3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Partner service targets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EC2124-AD45-4005-8DCE-E74E7912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571750" cy="3105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C65412-9854-4AD9-93CE-19F92DED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978D1F-0670-4E40-8C53-6F0C5438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5300"/>
                </a:solidFill>
              </a:defRPr>
            </a:pPr>
            <a:r>
              <a:rPr sz="900" b="1">
                <a:solidFill>
                  <a:srgbClr val="765300"/>
                </a:solidFill>
              </a:rPr>
              <a:t>MONTHS 12 TO 18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CDE3A2-6800-4244-9E57-53BEAC42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D1BAE0-54C1-49DA-8E02-5BA62139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C229DD-4BF1-47D6-8677-0387A5E0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00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Travel and home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80DA41-7A1E-4486-A89C-A376FFF5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73933B-EFE6-470D-9E4F-C47A3CBA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Open policy connectors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6F5BF8-BC65-40DA-A7C3-12F36586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32ADBB-8160-491C-8ECA-6BDAA8A1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291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Claim automation pilots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B0BFAE-2E11-465C-981D-04B90223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A8AECB-2213-42CB-8DBA-5788FB34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BC4"/>
                </a:solidFill>
              </a:defRPr>
            </a:pPr>
            <a:r>
              <a:rPr sz="975" b="1">
                <a:solidFill>
                  <a:srgbClr val="F0BBC4"/>
                </a:solidFill>
              </a:rPr>
              <a:t>ARCHITECTURE PRINCIPLE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E068A3-3C68-4E4E-9354-E5097DD9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34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Consent and policy 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EA25F5-196A-47C5-9156-5BE501F0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340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B942"/>
                </a:solidFill>
              </a:defRPr>
            </a:pPr>
            <a:r>
              <a:rPr sz="1500" b="1">
                <a:solidFill>
                  <a:srgbClr val="F4B942"/>
                </a:solidFill>
              </a:rPr>
              <a:t>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229A77-0C29-4DA6-97CB-4DF52D51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34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Protection orchestration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22D9BA-C7BF-4E1C-8299-A3C7146D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340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B942"/>
                </a:solidFill>
              </a:defRPr>
            </a:pPr>
            <a:r>
              <a:rPr sz="1500" b="1">
                <a:solidFill>
                  <a:srgbClr val="F4B942"/>
                </a:solidFill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CE0F47-6415-455E-AA34-7BC555E6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340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Insurers and service partners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9A64B3-FA42-4E83-A1ED-66BA7595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340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D3D6"/>
                </a:solidFill>
              </a:defRPr>
            </a:pPr>
            <a:r>
              <a:rPr sz="975" b="0">
                <a:solidFill>
                  <a:srgbClr val="DDD3D6"/>
                </a:solidFill>
              </a:rPr>
              <a:t>Auditable events across every layer</a:t>
            </a:r>
          </a:p>
        </p:txBody>
      </p:sp>
    </p:spTree>
    <p:extLst>
      <p:ext uri="{BB962C8B-B14F-4D97-AF65-F5344CB8AC3E}">
        <p14:creationId xmlns:p14="http://schemas.microsoft.com/office/powerpoint/2010/main" val="12947632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64C59D-712D-4641-A6E1-6565DBF2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2E79E-DDE3-4C34-BE75-2B6AFF4D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6B9B3-6FBA-4D5A-B5BE-7A2170FB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EB956-2CAD-4229-947E-88F7EBEE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Launch a focused pilot and make trust measurable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B46B1-E021-4DE1-A9C6-90D6627F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Run a 12 week motor and health pilot inside INDIE. Judge it by useful actions, completed renewals, and confidence during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F2494-CB56-4FF6-8A31-E56CA1C1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F32E9-2651-45F8-9CD5-33D07290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705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FE89E-6F19-40D4-9008-CE10B51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B8C49-D56C-4FA4-B024-4D52415E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Biased recommendations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E8250-11B6-4EA5-89DA-9A00D667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193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Rank by customer fit and disclose commercial relationships.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1DCE4-8674-4B32-BFD6-06DD801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6705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07C36-9F1D-496E-B1FC-2E1740CB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A1CA2-70B1-4023-8428-287421DA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Sensitive data overreach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40B38-A9D4-4BAC-9E9D-3BAB4636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622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Use specific consent, collect less data, and make access easy to revoke.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2E7CD-2CF8-4D9F-8F17-81D9441E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6705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1C881-D7D4-4CE2-872F-46D287F9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3B3F"/>
          </a:solidFill>
          <a:ln xmlns:a="http://schemas.openxmlformats.org/drawingml/2006/main" w="0">
            <a:solidFill>
              <a:srgbClr val="C63B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BD1F5-A720-4EEC-BAB9-389DF9A2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Wrong policy 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61BB9-EBE2-41E9-8099-27560A0E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052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Use approved policy wording, show the source, and offer human help.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A7DB9-0567-4389-8911-AE7E9740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6705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EFD28-F2B7-43E7-BF5F-C45050B5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8536D-BD28-441C-A886-DC6FD3ED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Claim status mismatch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EFA31-5046-4B94-9EC2-171E1DBC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481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Use the insurer record as truth, with timestamps and clear ownership.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415E2-6CA5-47B2-8226-1DF70C9F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705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44779-9E4F-4058-B54C-B232D2B3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68D62-23AA-4171-94D8-A7E92E51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Partner service failure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ACA46-1283-45B9-8BCD-204860D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911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Set coverage areas, service targets, backup providers, and incident reviews.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F57A90-F286-4201-AD49-F000A8F8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38671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346DF1-312E-4D8D-99B1-03765DF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1409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8492B2-7589-4C1E-96FB-94A99B60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193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6727ED-1624-488F-B4D9-7527EA75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47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Launch the focused pilot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019548-387D-430D-97BC-BB5FA4E2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DEF"/>
                </a:solidFill>
              </a:defRPr>
            </a:pPr>
            <a:r>
              <a:rPr sz="1350" b="1">
                <a:solidFill>
                  <a:srgbClr val="F2EDEF"/>
                </a:solidFill>
              </a:rPr>
              <a:t>Motor renewal and health gap discovery</a:t>
            </a:r>
          </a:p>
          <a:p xmlns:a="http://schemas.openxmlformats.org/drawingml/2006/main">
            <a:pPr algn="l">
              <a:defRPr sz="1350" b="1">
                <a:solidFill>
                  <a:srgbClr val="F2EDEF"/>
                </a:solidFill>
              </a:defRPr>
            </a:pPr>
            <a:r>
              <a:rPr sz="1350" b="1">
                <a:solidFill>
                  <a:srgbClr val="F2EDEF"/>
                </a:solidFill>
              </a:rPr>
              <a:t>One policy vault</a:t>
            </a:r>
          </a:p>
          <a:p xmlns:a="http://schemas.openxmlformats.org/drawingml/2006/main">
            <a:pPr algn="l">
              <a:defRPr sz="1350" b="1">
                <a:solidFill>
                  <a:srgbClr val="F2EDEF"/>
                </a:solidFill>
              </a:defRPr>
            </a:pPr>
            <a:r>
              <a:rPr sz="1350" b="1">
                <a:solidFill>
                  <a:srgbClr val="F2EDEF"/>
                </a:solidFill>
              </a:rPr>
              <a:t>Guided claims with visible ownership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5C18EA-309F-4354-8A44-1E7544CA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4820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74D"/>
          </a:solidFill>
          <a:ln xmlns:a="http://schemas.openxmlformats.org/drawingml/2006/main" w="0">
            <a:solidFill>
              <a:srgbClr val="5A47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E7356C-EF02-47F9-99BD-9F9022E4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BBC4"/>
                </a:solidFill>
              </a:defRPr>
            </a:pPr>
            <a:r>
              <a:rPr sz="900" b="1">
                <a:solidFill>
                  <a:srgbClr val="F0BBC4"/>
                </a:solidFill>
              </a:rPr>
              <a:t>WORKING PROTOTYPE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2C3F81-6514-49AF-BF72-6A03F95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indie-protect-capstone.vercel.app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F18C80-09AB-44FF-A5FC-C752E8C4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5C9CD"/>
                </a:solidFill>
              </a:defRPr>
            </a:pPr>
            <a:r>
              <a:rPr sz="900" b="0">
                <a:solidFill>
                  <a:srgbClr val="D5C9CD"/>
                </a:solidFill>
              </a:rPr>
              <a:t>Open the live prototype in any modern browser.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0F6DC5-B328-4365-A42C-D6572E32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Prototype, product assumptions, and roadmap prepared for Product Matters 6.0 capstone evaluation.</a:t>
            </a:r>
          </a:p>
        </p:txBody>
      </p:sp>
    </p:spTree>
    <p:extLst>
      <p:ext uri="{BB962C8B-B14F-4D97-AF65-F5344CB8AC3E}">
        <p14:creationId xmlns:p14="http://schemas.microsoft.com/office/powerpoint/2010/main" val="1152461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2026-07-23T13:37:12.0150000Z</dcterms:created>
  <dcterms:modified xsi:type="dcterms:W3CDTF">2026-07-23T13:37:12.0160000Z</dcterms:modified>
</coreProperties>
</file>